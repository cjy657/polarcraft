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10"/>
  </p:notesMasterIdLst>
  <p:sldIdLst>
    <p:sldId id="295" r:id="rId4"/>
    <p:sldId id="321" r:id="rId5"/>
    <p:sldId id="332" r:id="rId6"/>
    <p:sldId id="330" r:id="rId7"/>
    <p:sldId id="331" r:id="rId8"/>
    <p:sldId id="320" r:id="rId9"/>
  </p:sldIdLst>
  <p:sldSz cx="18288000" cy="10287000"/>
  <p:notesSz cx="6858000" cy="9144000"/>
  <p:embeddedFontLst>
    <p:embeddedFont>
      <p:font typeface="微软雅黑" panose="020B0503020204020204" pitchFamily="34" charset="-122"/>
      <p:regular r:id="rId15"/>
    </p:embeddedFont>
    <p:embeddedFont>
      <p:font typeface="Calibri" panose="020F0502020204030204" charset="0"/>
      <p:regular r:id="rId16"/>
      <p:bold r:id="rId17"/>
      <p:italic r:id="rId18"/>
      <p:boldItalic r:id="rId19"/>
    </p:embeddedFont>
  </p:embeddedFontLst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chanism" initials="m" lastIdx="1" clrIdx="0"/>
  <p:cmAuthor id="2000" name="邵宏彬_Iz6brmEv" initials="authorId_161601640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5" d="100"/>
          <a:sy n="55" d="100"/>
        </p:scale>
        <p:origin x="658" y="34"/>
      </p:cViewPr>
      <p:guideLst>
        <p:guide orient="horz" pos="214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3.xml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7775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59682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59682" y="3757613"/>
            <a:ext cx="7736681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 descr="深圳零一学院logo 标准-上下版"/>
          <p:cNvPicPr>
            <a:picLocks noChangeAspect="1"/>
          </p:cNvPicPr>
          <p:nvPr userDrawn="1"/>
        </p:nvPicPr>
        <p:blipFill>
          <a:blip r:embed="rId12"/>
          <a:srcRect l="23311" t="14941" r="28273" b="20050"/>
          <a:stretch>
            <a:fillRect/>
          </a:stretch>
        </p:blipFill>
        <p:spPr>
          <a:xfrm>
            <a:off x="16106140" y="190500"/>
            <a:ext cx="1877060" cy="1651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rgbClr val="FFFFFF">
                <a:alpha val="0"/>
              </a:srgb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 rot="2460000">
            <a:off x="14282802" y="4752638"/>
            <a:ext cx="1071563" cy="7018020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pic>
        <p:nvPicPr>
          <p:cNvPr id="5" name="图片 4" descr="6e4e79e0a1c16bd09def96378a2342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40" y="197121"/>
            <a:ext cx="4530090" cy="13382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12700" cmpd="sng">
            <a:noFill/>
            <a:prstDash val="solid"/>
            <a:miter lim="800000"/>
            <a:headEnd/>
            <a:tailEnd/>
          </a:ln>
          <a:effectLst>
            <a:softEdge rad="127000"/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14484" y="4457768"/>
            <a:ext cx="16724462" cy="1903299"/>
          </a:xfrm>
        </p:spPr>
        <p:txBody>
          <a:bodyPr>
            <a:noAutofit/>
          </a:bodyPr>
          <a:lstStyle/>
          <a:p>
            <a:pPr marL="0" indent="0" algn="ctr" fontAlgn="auto">
              <a:lnSpc>
                <a:spcPct val="150000"/>
              </a:lnSpc>
            </a:pPr>
            <a:r>
              <a:rPr lang="zh-CN" altLang="en-US" sz="11900" b="1" spc="704" dirty="0" err="1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反射光</a:t>
            </a:r>
            <a:r>
              <a:rPr lang="zh-CN" altLang="en-US" sz="11900" b="1" spc="704" dirty="0" err="1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偏振实验</a:t>
            </a:r>
            <a:endParaRPr lang="zh-CN" altLang="en-US" sz="11900" b="1" spc="704" dirty="0" err="1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 rot="2460000">
            <a:off x="16090277" y="7486602"/>
            <a:ext cx="690563" cy="4186238"/>
          </a:xfrm>
          <a:prstGeom prst="rect">
            <a:avLst/>
          </a:prstGeom>
          <a:gradFill>
            <a:gsLst>
              <a:gs pos="40000">
                <a:schemeClr val="accent2"/>
              </a:gs>
              <a:gs pos="100000">
                <a:schemeClr val="accent2">
                  <a:lumMod val="25000"/>
                  <a:lumOff val="75000"/>
                </a:schemeClr>
              </a:gs>
              <a:gs pos="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8" name="矩形 7"/>
          <p:cNvSpPr/>
          <p:nvPr/>
        </p:nvSpPr>
        <p:spPr>
          <a:xfrm rot="2460000">
            <a:off x="12542492" y="5743851"/>
            <a:ext cx="528638" cy="6091238"/>
          </a:xfrm>
          <a:prstGeom prst="rect">
            <a:avLst/>
          </a:prstGeom>
          <a:gradFill>
            <a:gsLst>
              <a:gs pos="40000">
                <a:schemeClr val="accent2"/>
              </a:gs>
              <a:gs pos="100000">
                <a:schemeClr val="accent2">
                  <a:lumMod val="25000"/>
                  <a:lumOff val="75000"/>
                </a:schemeClr>
              </a:gs>
              <a:gs pos="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9" name="矩形 8"/>
          <p:cNvSpPr/>
          <p:nvPr/>
        </p:nvSpPr>
        <p:spPr>
          <a:xfrm rot="2460000">
            <a:off x="16227932" y="4132095"/>
            <a:ext cx="415290" cy="8259128"/>
          </a:xfrm>
          <a:prstGeom prst="rect">
            <a:avLst/>
          </a:prstGeom>
          <a:gradFill>
            <a:gsLst>
              <a:gs pos="5000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一、反射光偏振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实验现象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0"/>
          <p:cNvSpPr txBox="1"/>
          <p:nvPr/>
        </p:nvSpPr>
        <p:spPr>
          <a:xfrm>
            <a:off x="1905000" y="102870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l">
              <a:lnSpc>
                <a:spcPts val="11200"/>
              </a:lnSpc>
              <a:buClrTx/>
              <a:buSzTx/>
              <a:buFontTx/>
            </a:pPr>
            <a:r>
              <a:rPr lang="zh-CN" altLang="en-US" sz="44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  <a:endParaRPr lang="zh-CN" altLang="en-US" sz="44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1705" y="605790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步骤一</a:t>
            </a:r>
            <a:endParaRPr lang="zh-CN" altLang="en-US" sz="28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877800" y="7752080"/>
            <a:ext cx="6096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</a:rPr>
              <a:t>步骤二</a:t>
            </a:r>
            <a:endParaRPr lang="zh-CN" altLang="en-US" sz="48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4800" y="2679700"/>
            <a:ext cx="16699865" cy="7279005"/>
          </a:xfrm>
          <a:prstGeom prst="rect">
            <a:avLst/>
          </a:prstGeom>
        </p:spPr>
        <p:txBody>
          <a:bodyPr wrap="square">
            <a:noAutofit/>
          </a:bodyPr>
          <a:p>
            <a:pPr marL="1676400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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将玻璃板放入旋转固定平台上，用竖直激光照射玻璃板，旋转玻璃板，观察反射光光强变化情况（视频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2.1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）；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35200" lvl="1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在观察白屏前放置水平线偏振片，重新旋转玻璃板，观察透过线偏振片的反射光光强变化情况（视频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2）；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35200" lvl="1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在观察白屏前放置竖直线偏振片，重新旋转玻璃板，观察透过线偏振片的反射光光强变化情况（视频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3）；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35200" lvl="1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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在观察白屏前放置水平线偏振片，用水平激光照射玻璃板，重新旋转玻璃板，观察透过线偏振片的反射光光强变化情况（照片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）；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676400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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可更换不同材料或不同颜色激光器，重复上述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676400" indent="-279400" algn="just" defTabSz="266700" fontAlgn="auto">
              <a:lnSpc>
                <a:spcPct val="150000"/>
              </a:lnSpc>
              <a:buFont typeface="Wingdings" panose="05000000000000000000"/>
              <a:buChar char=""/>
            </a:pP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二、菲涅尔公式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0"/>
          <p:cNvSpPr txBox="1"/>
          <p:nvPr/>
        </p:nvSpPr>
        <p:spPr>
          <a:xfrm>
            <a:off x="2133600" y="80010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l">
              <a:lnSpc>
                <a:spcPts val="11200"/>
              </a:lnSpc>
              <a:buClrTx/>
              <a:buSzTx/>
              <a:buFontTx/>
            </a:pPr>
            <a:r>
              <a:rPr 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</a:t>
            </a:r>
            <a:r>
              <a:rPr lang="zh-CN" alt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示意图</a:t>
            </a:r>
            <a:endParaRPr lang="zh-CN" altLang="en-US" sz="4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653655" y="9592945"/>
            <a:ext cx="2252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实验装置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示意图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268200" y="9486900"/>
            <a:ext cx="477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红色双箭头为</a:t>
            </a:r>
            <a:r>
              <a:rPr lang="en-US" altLang="zh-CN"/>
              <a:t>P</a:t>
            </a:r>
            <a:r>
              <a:rPr lang="zh-CN" altLang="en-US"/>
              <a:t>光，</a:t>
            </a:r>
            <a:r>
              <a:rPr lang="zh-CN" altLang="en-US"/>
              <a:t>其偏振方向平行于入射面</a:t>
            </a:r>
            <a:endParaRPr lang="zh-CN" altLang="en-US"/>
          </a:p>
          <a:p>
            <a:r>
              <a:rPr lang="zh-CN" altLang="en-US"/>
              <a:t>蓝色双箭头为</a:t>
            </a:r>
            <a:r>
              <a:rPr lang="en-US" altLang="zh-CN"/>
              <a:t>S</a:t>
            </a:r>
            <a:r>
              <a:rPr lang="zh-CN" altLang="en-US"/>
              <a:t>光，</a:t>
            </a:r>
            <a:r>
              <a:rPr lang="zh-CN" altLang="en-US">
                <a:sym typeface="+mn-ea"/>
              </a:rPr>
              <a:t>其偏振方向</a:t>
            </a:r>
            <a:r>
              <a:rPr lang="zh-CN" altLang="en-US">
                <a:sym typeface="+mn-ea"/>
              </a:rPr>
              <a:t>垂直于入射面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0205" y="2400300"/>
            <a:ext cx="11739245" cy="7021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二、菲涅尔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877800" y="7752080"/>
            <a:ext cx="6096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</a:rPr>
              <a:t>步骤二</a:t>
            </a:r>
            <a:endParaRPr lang="zh-CN" altLang="en-US" sz="4800" b="1">
              <a:solidFill>
                <a:schemeClr val="bg1"/>
              </a:solidFill>
            </a:endParaRPr>
          </a:p>
        </p:txBody>
      </p:sp>
      <p:pic>
        <p:nvPicPr>
          <p:cNvPr id="2" name="Picture 5" descr="http://www.kszyxx.net.cn/kexue/kexue-2/zutiweb/zu30/010/xj154.jpg"/>
          <p:cNvPicPr>
            <a:picLocks noChangeAspect="1"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2133600" y="2247900"/>
            <a:ext cx="3359150" cy="404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371600" y="6591300"/>
            <a:ext cx="9234805" cy="6781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ACAFF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菲涅耳公式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CACAFF">
                  <a:lumMod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33600" y="5876925"/>
            <a:ext cx="2889250" cy="652145"/>
          </a:xfrm>
          <a:prstGeom prst="rect">
            <a:avLst/>
          </a:prstGeom>
          <a:solidFill>
            <a:srgbClr val="00007D">
              <a:lumMod val="20000"/>
              <a:lumOff val="80000"/>
              <a:alpha val="33000"/>
            </a:srgbClr>
          </a:solidFill>
        </p:spPr>
        <p:txBody>
          <a:bodyPr wrap="none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ACAFF">
                    <a:lumMod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Augustin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ACAFF">
                    <a:lumMod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Jean Fresnel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ACAFF">
                  <a:lumMod val="2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ACAFF">
                    <a:lumMod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(1788–1827)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ACAFF">
                  <a:lumMod val="2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" name="Picture 4" descr="https://ss2.baidu.com/-vo3dSag_xI4khGko9WTAnF6hhy/baike/s=220/sign=61ca0268c8ef7609380b9e9d1edca301/48540923dd54564eff66e2ccb0de9c82d0584fc7.jpg"/>
          <p:cNvPicPr>
            <a:picLocks noChangeAspect="1" noChangeArrowheads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 bwMode="auto">
          <a:xfrm>
            <a:off x="1266825" y="7277100"/>
            <a:ext cx="663448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https://gimg2.baidu.com/image_search/src=http%3A%2F%2Fwww.masters.tw%2Fwp-content%2Fuploads%2F2019%2F05%2Fbrewsters_angle1.jpg&amp;refer=http%3A%2F%2Fwww.masters.tw&amp;app=2002&amp;size=f9999,10000&amp;q=a80&amp;n=0&amp;g=0n&amp;fmt=jpeg?sec=1628722773&amp;t=8dd61b5b19dd5803871c830d53b36bdf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248400" y="2703830"/>
            <a:ext cx="432943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https://gimg2.baidu.com/image_search/src=http%3A%2F%2Fpic4.zhimg.com%2F50%2F1d93fe92092289f0e2f8b098a77fc53f_hd.jpg&amp;refer=http%3A%2F%2Fpic4.zhimg.com&amp;app=2002&amp;size=f9999,10000&amp;q=a80&amp;n=0&amp;g=0n&amp;fmt=jpeg?sec=1628722864&amp;t=3399421a15969630c300d27d273cd258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10439400" y="2324100"/>
            <a:ext cx="595503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https://ss2.baidu.com/-vo3dSag_xI4khGko9WTAnF6hhy/baike/s=220/sign=61ca0268c8ef7609380b9e9d1edca301/48540923dd54564eff66e2ccb0de9c82d0584fc7.jpg"/>
          <p:cNvPicPr>
            <a:picLocks noChangeAspect="1" noChangeArrowheads="1"/>
          </p:cNvPicPr>
          <p:nvPr/>
        </p:nvPicPr>
        <p:blipFill rotWithShape="1">
          <a:blip r:embed="rId5" cstate="print"/>
          <a:srcRect/>
          <a:stretch>
            <a:fillRect/>
          </a:stretch>
        </p:blipFill>
        <p:spPr bwMode="auto">
          <a:xfrm>
            <a:off x="9448800" y="7353300"/>
            <a:ext cx="663448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三、布儒斯特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877800" y="7752080"/>
            <a:ext cx="6096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</a:rPr>
              <a:t>步骤二</a:t>
            </a:r>
            <a:endParaRPr lang="zh-CN" altLang="en-US" sz="4800" b="1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0" y="3162300"/>
            <a:ext cx="5338445" cy="58216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324100"/>
            <a:ext cx="7129780" cy="154749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9296400" y="3959860"/>
            <a:ext cx="9144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3335D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反射光中只有垂直于入射</a:t>
            </a:r>
            <a:r>
              <a:rPr lang="zh-CN" altLang="en-US" sz="3200" b="1">
                <a:solidFill>
                  <a:srgbClr val="3335D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面振动</a:t>
            </a:r>
            <a:r>
              <a:rPr lang="en-US" altLang="zh-CN" sz="3200" b="1">
                <a:solidFill>
                  <a:srgbClr val="3335D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---</a:t>
            </a:r>
            <a:r>
              <a:rPr lang="zh-CN" altLang="en-US" sz="3200" b="1">
                <a:solidFill>
                  <a:srgbClr val="3335D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线偏振光</a:t>
            </a:r>
            <a:endParaRPr lang="zh-CN" altLang="en-US" sz="3200" b="1">
              <a:solidFill>
                <a:srgbClr val="3335D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5669280"/>
            <a:ext cx="4485640" cy="206057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9296400" y="7729855"/>
            <a:ext cx="9144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3335D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反射光为完全偏振光，</a:t>
            </a:r>
            <a:endParaRPr lang="zh-CN" altLang="en-US" sz="3200" b="1">
              <a:solidFill>
                <a:srgbClr val="3335D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3335D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且振动面垂直入射面折射光为部分偏振光。</a:t>
            </a:r>
            <a:endParaRPr lang="zh-CN" altLang="en-US" sz="3200" b="1">
              <a:solidFill>
                <a:srgbClr val="3335D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四、拓展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和思考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2933700"/>
            <a:ext cx="12161520" cy="461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1676400" lvl="1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"/>
            </a:pP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室外建筑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窗户玻璃反射；</a:t>
            </a:r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676400" lvl="1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"/>
            </a:pP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室内玻璃幕墙反射（照片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2.2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、视频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2.4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）；</a:t>
            </a:r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676400" lvl="1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"/>
            </a:pP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水面反射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光；</a:t>
            </a:r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676400" lvl="1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"/>
            </a:pP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车内对面车灯眩光；</a:t>
            </a:r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676400" lvl="1" indent="-279400" algn="just" defTabSz="266700">
              <a:lnSpc>
                <a:spcPct val="150000"/>
              </a:lnSpc>
              <a:buClrTx/>
              <a:buSzTx/>
              <a:buFont typeface="Wingdings" panose="05000000000000000000"/>
              <a:buChar char=""/>
            </a:pP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各种生活中的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现象等等。</a:t>
            </a:r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81200" y="1333500"/>
            <a:ext cx="9144000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1" algn="l">
              <a:lnSpc>
                <a:spcPts val="11200"/>
              </a:lnSpc>
              <a:buClrTx/>
              <a:buSzTx/>
              <a:buFontTx/>
            </a:pPr>
            <a:r>
              <a:rPr lang="zh-CN" altLang="en-US" sz="44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各种反射偏振现象</a:t>
            </a:r>
            <a:endParaRPr lang="zh-CN" altLang="en-US" sz="44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2192000" y="2628900"/>
            <a:ext cx="4815840" cy="67830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PP_MARK_KEY" val="5f32d10e-bc9a-4042-a483-4efcc6743821"/>
  <p:tag name="COMMONDATA" val="eyJoZGlkIjoiODViY2JkMjU3NGYzZTEwMzZmMGFkZWViYmNkYWU3NDIifQ=="/>
  <p:tag name="commondata" val="eyJoZGlkIjoiMzEwNTM5NzYwMDRjMzkwZTVkZjY2ODkwMGIxNGU0OT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WPS 演示</Application>
  <PresentationFormat>自定义</PresentationFormat>
  <Paragraphs>54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Wingdings</vt:lpstr>
      <vt:lpstr>Times New Roman</vt:lpstr>
      <vt:lpstr>Calibri</vt:lpstr>
      <vt:lpstr>Arial Unicode MS</vt:lpstr>
      <vt:lpstr>Office Theme</vt:lpstr>
      <vt:lpstr>WPS</vt:lpstr>
      <vt:lpstr>反射光偏振实验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多图</dc:title>
  <dc:creator>HP</dc:creator>
  <cp:lastModifiedBy>天星</cp:lastModifiedBy>
  <cp:revision>80</cp:revision>
  <dcterms:created xsi:type="dcterms:W3CDTF">2006-08-16T00:00:00Z</dcterms:created>
  <dcterms:modified xsi:type="dcterms:W3CDTF">2026-03-02T03:51:29Z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2F18651AFBF840EEB46B1164C0BC4FA1_13</vt:lpwstr>
  </property>
  <property fmtid="{D5CDD505-2E9C-101B-9397-08002B2CF9AE}" pid="3" name="KSOProductBuildVer">
    <vt:lpwstr>2052-12.1.0.25225</vt:lpwstr>
  </property>
</Properties>
</file>