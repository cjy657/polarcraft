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6.webp" ContentType="image/webp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3"/>
  </p:sldMasterIdLst>
  <p:notesMasterIdLst>
    <p:notesMasterId r:id="rId8"/>
  </p:notesMasterIdLst>
  <p:sldIdLst>
    <p:sldId id="295" r:id="rId4"/>
    <p:sldId id="287" r:id="rId5"/>
    <p:sldId id="300" r:id="rId6"/>
    <p:sldId id="321" r:id="rId7"/>
  </p:sldIdLst>
  <p:sldSz cx="18288000" cy="10287000"/>
  <p:notesSz cx="6858000" cy="9144000"/>
  <p:embeddedFontLst>
    <p:embeddedFont>
      <p:font typeface="微软雅黑" panose="020B0503020204020204" pitchFamily="34" charset="-122"/>
      <p:regular r:id="rId13"/>
    </p:embeddedFont>
    <p:embeddedFont>
      <p:font typeface="Calibri" panose="020F0502020204030204"/>
      <p:regular r:id="rId14"/>
      <p:bold r:id="rId15"/>
      <p:italic r:id="rId16"/>
      <p:boldItalic r:id="rId17"/>
    </p:embeddedFont>
    <p:embeddedFont>
      <p:font typeface="华文新魏" panose="02010800040101010101" charset="-122"/>
      <p:regular r:id="rId18"/>
    </p:embeddedFont>
  </p:embeddedFontLst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8" userDrawn="1">
          <p15:clr>
            <a:srgbClr val="A4A3A4"/>
          </p15:clr>
        </p15:guide>
        <p15:guide id="2" pos="285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echanism" initials="m" lastIdx="1" clrIdx="0"/>
  <p:cmAuthor id="2000" name="邵宏彬_Iz6brmEv" initials="authorId_1616016405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5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55" d="100"/>
          <a:sy n="55" d="100"/>
        </p:scale>
        <p:origin x="658" y="34"/>
      </p:cViewPr>
      <p:guideLst>
        <p:guide orient="horz" pos="2148"/>
        <p:guide pos="28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3.xml"/><Relationship Id="rId18" Type="http://schemas.openxmlformats.org/officeDocument/2006/relationships/font" Target="fonts/font6.fntdata"/><Relationship Id="rId17" Type="http://schemas.openxmlformats.org/officeDocument/2006/relationships/font" Target="fonts/font5.fntdata"/><Relationship Id="rId16" Type="http://schemas.openxmlformats.org/officeDocument/2006/relationships/font" Target="fonts/font4.fntdata"/><Relationship Id="rId15" Type="http://schemas.openxmlformats.org/officeDocument/2006/relationships/font" Target="fonts/font3.fntdata"/><Relationship Id="rId14" Type="http://schemas.openxmlformats.org/officeDocument/2006/relationships/font" Target="fonts/font2.fntdata"/><Relationship Id="rId13" Type="http://schemas.openxmlformats.org/officeDocument/2006/relationships/font" Target="fonts/font1.fntdata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47775" y="2564607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59682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259682" y="3757613"/>
            <a:ext cx="7736681" cy="55268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82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59682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82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59682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8" name="图片 7" descr="深圳零一学院logo 标准-上下版"/>
          <p:cNvPicPr>
            <a:picLocks noChangeAspect="1"/>
          </p:cNvPicPr>
          <p:nvPr userDrawn="1"/>
        </p:nvPicPr>
        <p:blipFill>
          <a:blip r:embed="rId12"/>
          <a:srcRect l="23311" t="14941" r="28273" b="20050"/>
          <a:stretch>
            <a:fillRect/>
          </a:stretch>
        </p:blipFill>
        <p:spPr>
          <a:xfrm>
            <a:off x="16106140" y="190500"/>
            <a:ext cx="1877060" cy="1651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webp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20000"/>
                <a:lumOff val="80000"/>
              </a:schemeClr>
            </a:gs>
            <a:gs pos="100000">
              <a:srgbClr val="FFFFFF">
                <a:alpha val="0"/>
              </a:srgbClr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 rot="2460000">
            <a:off x="14282802" y="4752638"/>
            <a:ext cx="1071563" cy="7018020"/>
          </a:xfrm>
          <a:prstGeom prst="rect">
            <a:avLst/>
          </a:prstGeom>
          <a:gradFill>
            <a:gsLst>
              <a:gs pos="40000">
                <a:schemeClr val="accent1"/>
              </a:gs>
              <a:gs pos="100000">
                <a:schemeClr val="accent1">
                  <a:lumMod val="25000"/>
                  <a:lumOff val="75000"/>
                </a:schemeClr>
              </a:gs>
              <a:gs pos="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/>
          </a:p>
        </p:txBody>
      </p:sp>
      <p:pic>
        <p:nvPicPr>
          <p:cNvPr id="5" name="图片 4" descr="6e4e79e0a1c16bd09def96378a23428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140" y="197121"/>
            <a:ext cx="4530090" cy="133826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12700" cmpd="sng">
            <a:noFill/>
            <a:prstDash val="solid"/>
            <a:miter lim="800000"/>
            <a:headEnd/>
            <a:tailEnd/>
          </a:ln>
          <a:effectLst>
            <a:softEdge rad="127000"/>
          </a:effectLst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914484" y="3390968"/>
            <a:ext cx="16724462" cy="1903299"/>
          </a:xfrm>
        </p:spPr>
        <p:txBody>
          <a:bodyPr>
            <a:noAutofit/>
          </a:bodyPr>
          <a:lstStyle/>
          <a:p>
            <a:pPr marL="0" indent="0" algn="ctr" fontAlgn="auto">
              <a:lnSpc>
                <a:spcPct val="150000"/>
              </a:lnSpc>
            </a:pPr>
            <a:r>
              <a:rPr lang="zh-CN" altLang="en-US" sz="9900" b="1" spc="704" dirty="0" err="1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引言：光的基础知识</a:t>
            </a:r>
            <a:endParaRPr lang="zh-CN" altLang="en-US" sz="9900" b="1" spc="704" dirty="0" err="1">
              <a:solidFill>
                <a:srgbClr val="1D208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 rot="2460000">
            <a:off x="16090277" y="7486602"/>
            <a:ext cx="690563" cy="4186238"/>
          </a:xfrm>
          <a:prstGeom prst="rect">
            <a:avLst/>
          </a:prstGeom>
          <a:gradFill>
            <a:gsLst>
              <a:gs pos="40000">
                <a:schemeClr val="accent2"/>
              </a:gs>
              <a:gs pos="100000">
                <a:schemeClr val="accent2">
                  <a:lumMod val="25000"/>
                  <a:lumOff val="75000"/>
                </a:schemeClr>
              </a:gs>
              <a:gs pos="0">
                <a:schemeClr val="accent2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/>
          </a:p>
        </p:txBody>
      </p:sp>
      <p:sp>
        <p:nvSpPr>
          <p:cNvPr id="8" name="矩形 7"/>
          <p:cNvSpPr/>
          <p:nvPr/>
        </p:nvSpPr>
        <p:spPr>
          <a:xfrm rot="2460000">
            <a:off x="12542492" y="5743851"/>
            <a:ext cx="528638" cy="6091238"/>
          </a:xfrm>
          <a:prstGeom prst="rect">
            <a:avLst/>
          </a:prstGeom>
          <a:gradFill>
            <a:gsLst>
              <a:gs pos="40000">
                <a:schemeClr val="accent2"/>
              </a:gs>
              <a:gs pos="100000">
                <a:schemeClr val="accent2">
                  <a:lumMod val="25000"/>
                  <a:lumOff val="75000"/>
                </a:schemeClr>
              </a:gs>
              <a:gs pos="0">
                <a:schemeClr val="accent2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/>
          </a:p>
        </p:txBody>
      </p:sp>
      <p:sp>
        <p:nvSpPr>
          <p:cNvPr id="9" name="矩形 8"/>
          <p:cNvSpPr/>
          <p:nvPr/>
        </p:nvSpPr>
        <p:spPr>
          <a:xfrm rot="2460000">
            <a:off x="16227932" y="4132095"/>
            <a:ext cx="415290" cy="8259128"/>
          </a:xfrm>
          <a:prstGeom prst="rect">
            <a:avLst/>
          </a:prstGeom>
          <a:gradFill>
            <a:gsLst>
              <a:gs pos="50000">
                <a:schemeClr val="accent1"/>
              </a:gs>
              <a:gs pos="100000">
                <a:schemeClr val="accent1">
                  <a:lumMod val="25000"/>
                  <a:lumOff val="75000"/>
                </a:schemeClr>
              </a:gs>
              <a:gs pos="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914672" y="-135"/>
            <a:ext cx="170906" cy="3240000"/>
            <a:chOff x="0" y="0"/>
            <a:chExt cx="227875" cy="11758474"/>
          </a:xfrm>
        </p:grpSpPr>
        <p:sp>
          <p:nvSpPr>
            <p:cNvPr id="12" name="AutoShape 12"/>
            <p:cNvSpPr/>
            <p:nvPr/>
          </p:nvSpPr>
          <p:spPr>
            <a:xfrm>
              <a:off x="0" y="0"/>
              <a:ext cx="227875" cy="11758474"/>
            </a:xfrm>
            <a:prstGeom prst="rect">
              <a:avLst/>
            </a:prstGeom>
            <a:solidFill>
              <a:srgbClr val="EB6100">
                <a:alpha val="76863"/>
              </a:srgbClr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457208" y="1790588"/>
            <a:ext cx="156664" cy="3240000"/>
            <a:chOff x="0" y="0"/>
            <a:chExt cx="208885" cy="11758474"/>
          </a:xfrm>
        </p:grpSpPr>
        <p:sp>
          <p:nvSpPr>
            <p:cNvPr id="14" name="AutoShape 14"/>
            <p:cNvSpPr/>
            <p:nvPr/>
          </p:nvSpPr>
          <p:spPr>
            <a:xfrm>
              <a:off x="0" y="0"/>
              <a:ext cx="208885" cy="11758474"/>
            </a:xfrm>
            <a:prstGeom prst="rect">
              <a:avLst/>
            </a:prstGeom>
            <a:solidFill>
              <a:srgbClr val="1D2088">
                <a:alpha val="76863"/>
              </a:srgbClr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7144985" y="8977630"/>
            <a:ext cx="183530" cy="1297137"/>
            <a:chOff x="0" y="0"/>
            <a:chExt cx="244706" cy="1729516"/>
          </a:xfrm>
        </p:grpSpPr>
        <p:sp>
          <p:nvSpPr>
            <p:cNvPr id="16" name="AutoShape 16"/>
            <p:cNvSpPr/>
            <p:nvPr/>
          </p:nvSpPr>
          <p:spPr>
            <a:xfrm>
              <a:off x="0" y="0"/>
              <a:ext cx="244706" cy="1729516"/>
            </a:xfrm>
            <a:prstGeom prst="rect">
              <a:avLst/>
            </a:prstGeom>
            <a:solidFill>
              <a:srgbClr val="EB6100">
                <a:alpha val="76863"/>
              </a:srgbClr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7678400" y="6972163"/>
            <a:ext cx="176394" cy="3302648"/>
            <a:chOff x="0" y="0"/>
            <a:chExt cx="235193" cy="4403530"/>
          </a:xfrm>
        </p:grpSpPr>
        <p:sp>
          <p:nvSpPr>
            <p:cNvPr id="18" name="AutoShape 18"/>
            <p:cNvSpPr/>
            <p:nvPr/>
          </p:nvSpPr>
          <p:spPr>
            <a:xfrm>
              <a:off x="0" y="0"/>
              <a:ext cx="235193" cy="4403530"/>
            </a:xfrm>
            <a:prstGeom prst="rect">
              <a:avLst/>
            </a:prstGeom>
            <a:solidFill>
              <a:srgbClr val="1D2088">
                <a:alpha val="76863"/>
              </a:srgbClr>
            </a:solidFill>
          </p:spPr>
        </p:sp>
      </p:grpSp>
      <p:sp>
        <p:nvSpPr>
          <p:cNvPr id="31" name="TextBox 10"/>
          <p:cNvSpPr txBox="1"/>
          <p:nvPr/>
        </p:nvSpPr>
        <p:spPr>
          <a:xfrm>
            <a:off x="1266825" y="38100"/>
            <a:ext cx="11254105" cy="1435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>
              <a:lnSpc>
                <a:spcPts val="11200"/>
              </a:lnSpc>
              <a:spcBef>
                <a:spcPct val="0"/>
              </a:spcBef>
            </a:pPr>
            <a:r>
              <a:rPr lang="zh-CN" altLang="en-US" sz="7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一、波及其特征</a:t>
            </a:r>
            <a:r>
              <a:rPr lang="zh-CN" altLang="en-US" sz="7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</a:t>
            </a:r>
            <a:endParaRPr lang="zh-CN" altLang="en-US" sz="7000" b="1" dirty="0">
              <a:solidFill>
                <a:srgbClr val="1D208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5943600" y="3390900"/>
            <a:ext cx="5943600" cy="5943600"/>
            <a:chOff x="9360" y="3900"/>
            <a:chExt cx="9360" cy="9360"/>
          </a:xfrm>
        </p:grpSpPr>
        <p:sp>
          <p:nvSpPr>
            <p:cNvPr id="6" name="十字箭头标注 5"/>
            <p:cNvSpPr/>
            <p:nvPr/>
          </p:nvSpPr>
          <p:spPr>
            <a:xfrm rot="8100000">
              <a:off x="9360" y="3900"/>
              <a:ext cx="9360" cy="9360"/>
            </a:xfrm>
            <a:prstGeom prst="quadArrowCallout">
              <a:avLst/>
            </a:prstGeom>
            <a:gradFill>
              <a:gsLst>
                <a:gs pos="0">
                  <a:schemeClr val="tx2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bg1"/>
                </a:gs>
              </a:gsLst>
              <a:path path="rect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1760" y="6780"/>
              <a:ext cx="5682" cy="3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7200" b="1">
                  <a:solidFill>
                    <a:srgbClr val="0070C0"/>
                  </a:solidFill>
                  <a:latin typeface="华文新魏" panose="02010800040101010101" charset="-122"/>
                  <a:ea typeface="华文新魏" panose="02010800040101010101" charset="-122"/>
                </a:rPr>
                <a:t>波及其</a:t>
              </a:r>
              <a:endParaRPr lang="zh-CN" altLang="en-US" sz="7200" b="1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</a:endParaRPr>
            </a:p>
            <a:p>
              <a:r>
                <a:rPr lang="zh-CN" altLang="en-US" sz="7200" b="1">
                  <a:solidFill>
                    <a:srgbClr val="0070C0"/>
                  </a:solidFill>
                  <a:latin typeface="华文新魏" panose="02010800040101010101" charset="-122"/>
                  <a:ea typeface="华文新魏" panose="02010800040101010101" charset="-122"/>
                </a:rPr>
                <a:t>特征量</a:t>
              </a:r>
              <a:endParaRPr lang="zh-CN" altLang="en-US" sz="7200" b="1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</p:grpSp>
      <p:sp>
        <p:nvSpPr>
          <p:cNvPr id="46" name="文本框 45"/>
          <p:cNvSpPr txBox="1"/>
          <p:nvPr/>
        </p:nvSpPr>
        <p:spPr>
          <a:xfrm>
            <a:off x="5105400" y="4229100"/>
            <a:ext cx="15303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>
                <a:latin typeface="华文新魏" panose="02010800040101010101" charset="-122"/>
                <a:ea typeface="华文新魏" panose="02010800040101010101" charset="-122"/>
              </a:rPr>
              <a:t>幅度</a:t>
            </a:r>
            <a:endParaRPr lang="zh-CN" altLang="en-US" sz="4800"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1217910" y="4229100"/>
            <a:ext cx="15303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>
                <a:latin typeface="华文新魏" panose="02010800040101010101" charset="-122"/>
                <a:ea typeface="华文新魏" panose="02010800040101010101" charset="-122"/>
              </a:rPr>
              <a:t>相位</a:t>
            </a:r>
            <a:endParaRPr lang="zh-CN" altLang="en-US" sz="4800"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181600" y="7658100"/>
            <a:ext cx="15303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>
                <a:latin typeface="华文新魏" panose="02010800040101010101" charset="-122"/>
                <a:ea typeface="华文新魏" panose="02010800040101010101" charset="-122"/>
              </a:rPr>
              <a:t>偏振</a:t>
            </a:r>
            <a:endParaRPr lang="zh-CN" altLang="en-US" sz="4800"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1217910" y="7658100"/>
            <a:ext cx="15303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>
                <a:latin typeface="华文新魏" panose="02010800040101010101" charset="-122"/>
                <a:ea typeface="华文新魏" panose="02010800040101010101" charset="-122"/>
              </a:rPr>
              <a:t>波长</a:t>
            </a:r>
            <a:endParaRPr lang="zh-CN" altLang="en-US" sz="4800">
              <a:latin typeface="华文新魏" panose="02010800040101010101" charset="-122"/>
              <a:ea typeface="华文新魏" panose="02010800040101010101" charset="-122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5720" y="3213735"/>
            <a:ext cx="3898900" cy="2348865"/>
          </a:xfrm>
          <a:prstGeom prst="rect">
            <a:avLst/>
          </a:prstGeom>
        </p:spPr>
      </p:pic>
      <p:pic>
        <p:nvPicPr>
          <p:cNvPr id="53" name="图片 52"/>
          <p:cNvPicPr/>
          <p:nvPr/>
        </p:nvPicPr>
        <p:blipFill>
          <a:blip r:embed="rId2"/>
          <a:srcRect l="6718" t="6435" r="9492" b="3468"/>
          <a:stretch>
            <a:fillRect/>
          </a:stretch>
        </p:blipFill>
        <p:spPr>
          <a:xfrm>
            <a:off x="12725400" y="6438900"/>
            <a:ext cx="4450715" cy="3200400"/>
          </a:xfrm>
          <a:prstGeom prst="rect">
            <a:avLst/>
          </a:prstGeom>
        </p:spPr>
      </p:pic>
      <p:pic>
        <p:nvPicPr>
          <p:cNvPr id="54" name="图片 53"/>
          <p:cNvPicPr/>
          <p:nvPr/>
        </p:nvPicPr>
        <p:blipFill>
          <a:blip r:embed="rId3"/>
          <a:stretch>
            <a:fillRect/>
          </a:stretch>
        </p:blipFill>
        <p:spPr>
          <a:xfrm>
            <a:off x="7239000" y="1557655"/>
            <a:ext cx="3516630" cy="2615565"/>
          </a:xfrm>
          <a:prstGeom prst="rect">
            <a:avLst/>
          </a:prstGeom>
        </p:spPr>
      </p:pic>
      <p:pic>
        <p:nvPicPr>
          <p:cNvPr id="55" name="图片 54"/>
          <p:cNvPicPr/>
          <p:nvPr/>
        </p:nvPicPr>
        <p:blipFill>
          <a:blip r:embed="rId4"/>
          <a:stretch>
            <a:fillRect/>
          </a:stretch>
        </p:blipFill>
        <p:spPr>
          <a:xfrm>
            <a:off x="12659995" y="3314700"/>
            <a:ext cx="4540250" cy="2716530"/>
          </a:xfrm>
          <a:prstGeom prst="rect">
            <a:avLst/>
          </a:prstGeom>
        </p:spPr>
      </p:pic>
      <p:pic>
        <p:nvPicPr>
          <p:cNvPr id="56" name="图片 55"/>
          <p:cNvPicPr/>
          <p:nvPr/>
        </p:nvPicPr>
        <p:blipFill>
          <a:blip r:embed="rId5"/>
          <a:stretch>
            <a:fillRect/>
          </a:stretch>
        </p:blipFill>
        <p:spPr>
          <a:xfrm>
            <a:off x="1157605" y="6574790"/>
            <a:ext cx="4051935" cy="2565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609872" y="-135"/>
            <a:ext cx="170906" cy="3240000"/>
            <a:chOff x="0" y="0"/>
            <a:chExt cx="227875" cy="11758474"/>
          </a:xfrm>
        </p:grpSpPr>
        <p:sp>
          <p:nvSpPr>
            <p:cNvPr id="12" name="AutoShape 12"/>
            <p:cNvSpPr/>
            <p:nvPr/>
          </p:nvSpPr>
          <p:spPr>
            <a:xfrm>
              <a:off x="0" y="0"/>
              <a:ext cx="227875" cy="11758474"/>
            </a:xfrm>
            <a:prstGeom prst="rect">
              <a:avLst/>
            </a:prstGeom>
            <a:solidFill>
              <a:srgbClr val="EB6100">
                <a:alpha val="76863"/>
              </a:srgbClr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228608" y="1790588"/>
            <a:ext cx="156664" cy="3240000"/>
            <a:chOff x="0" y="0"/>
            <a:chExt cx="208885" cy="11758474"/>
          </a:xfrm>
        </p:grpSpPr>
        <p:sp>
          <p:nvSpPr>
            <p:cNvPr id="14" name="AutoShape 14"/>
            <p:cNvSpPr/>
            <p:nvPr/>
          </p:nvSpPr>
          <p:spPr>
            <a:xfrm>
              <a:off x="0" y="0"/>
              <a:ext cx="208885" cy="11758474"/>
            </a:xfrm>
            <a:prstGeom prst="rect">
              <a:avLst/>
            </a:prstGeom>
            <a:solidFill>
              <a:srgbClr val="1D2088">
                <a:alpha val="76863"/>
              </a:srgbClr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7373600" y="7200900"/>
            <a:ext cx="183515" cy="3099435"/>
            <a:chOff x="0" y="0"/>
            <a:chExt cx="244706" cy="1729516"/>
          </a:xfrm>
        </p:grpSpPr>
        <p:sp>
          <p:nvSpPr>
            <p:cNvPr id="16" name="AutoShape 16"/>
            <p:cNvSpPr/>
            <p:nvPr/>
          </p:nvSpPr>
          <p:spPr>
            <a:xfrm>
              <a:off x="0" y="0"/>
              <a:ext cx="244706" cy="1729516"/>
            </a:xfrm>
            <a:prstGeom prst="rect">
              <a:avLst/>
            </a:prstGeom>
            <a:solidFill>
              <a:srgbClr val="EB6100">
                <a:alpha val="76863"/>
              </a:srgbClr>
            </a:solidFill>
          </p:spPr>
        </p:sp>
      </p:grpSp>
      <p:sp>
        <p:nvSpPr>
          <p:cNvPr id="31" name="TextBox 10"/>
          <p:cNvSpPr txBox="1"/>
          <p:nvPr/>
        </p:nvSpPr>
        <p:spPr>
          <a:xfrm>
            <a:off x="1295400" y="0"/>
            <a:ext cx="11254105" cy="1435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>
              <a:lnSpc>
                <a:spcPts val="11200"/>
              </a:lnSpc>
              <a:spcBef>
                <a:spcPct val="0"/>
              </a:spcBef>
            </a:pPr>
            <a:r>
              <a:rPr lang="zh-CN" altLang="en-US" sz="7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二、波的类型</a:t>
            </a:r>
            <a:endParaRPr lang="zh-CN" altLang="en-US" sz="7000" b="1" dirty="0">
              <a:solidFill>
                <a:srgbClr val="1D208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Group 13"/>
          <p:cNvGrpSpPr/>
          <p:nvPr/>
        </p:nvGrpSpPr>
        <p:grpSpPr>
          <a:xfrm>
            <a:off x="17907000" y="5789930"/>
            <a:ext cx="156845" cy="4510405"/>
            <a:chOff x="0" y="0"/>
            <a:chExt cx="208885" cy="11758474"/>
          </a:xfrm>
        </p:grpSpPr>
        <p:sp>
          <p:nvSpPr>
            <p:cNvPr id="26" name="AutoShape 14"/>
            <p:cNvSpPr/>
            <p:nvPr/>
          </p:nvSpPr>
          <p:spPr>
            <a:xfrm>
              <a:off x="0" y="0"/>
              <a:ext cx="208885" cy="11758474"/>
            </a:xfrm>
            <a:prstGeom prst="rect">
              <a:avLst/>
            </a:prstGeom>
            <a:solidFill>
              <a:srgbClr val="1D2088">
                <a:alpha val="76863"/>
              </a:srgbClr>
            </a:solidFill>
          </p:spPr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790700"/>
            <a:ext cx="10706100" cy="61798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505200" y="8115300"/>
            <a:ext cx="11851640" cy="1814830"/>
          </a:xfrm>
          <a:prstGeom prst="rect">
            <a:avLst/>
          </a:prstGeom>
        </p:spPr>
        <p:txBody>
          <a:bodyPr wrap="square">
            <a:spAutoFit/>
          </a:bodyPr>
          <a:p>
            <a:pPr marL="0" algn="l">
              <a:buClrTx/>
              <a:buSzTx/>
              <a:buFontTx/>
            </a:pPr>
            <a:r>
              <a:rPr lang="zh-CN" altLang="en-US" sz="2800" b="1" i="0">
                <a:latin typeface="微软雅黑" panose="020B0503020204020204" pitchFamily="34" charset="-122"/>
                <a:ea typeface="微软雅黑" panose="020B0503020204020204" pitchFamily="34" charset="-122"/>
              </a:rPr>
              <a:t>横波：</a:t>
            </a:r>
            <a:r>
              <a:rPr lang="zh-CN" altLang="en-US" sz="2800" b="0" i="0">
                <a:latin typeface="微软雅黑" panose="020B0503020204020204" pitchFamily="34" charset="-122"/>
                <a:ea typeface="微软雅黑" panose="020B0503020204020204" pitchFamily="34" charset="-122"/>
              </a:rPr>
              <a:t>质点的振动方向与波的传播方向垂直。横波的特点是质点的振动方向与波的传播方向相互垂直。</a:t>
            </a:r>
            <a:endParaRPr lang="zh-CN" altLang="en-US" sz="2800" b="0" i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algn="l">
              <a:buClrTx/>
              <a:buSzTx/>
              <a:buFontTx/>
            </a:pPr>
            <a:r>
              <a:rPr lang="zh-CN" altLang="en-US" sz="2800" b="1" i="0">
                <a:latin typeface="微软雅黑" panose="020B0503020204020204" pitchFamily="34" charset="-122"/>
                <a:ea typeface="微软雅黑" panose="020B0503020204020204" pitchFamily="34" charset="-122"/>
              </a:rPr>
              <a:t>纵波：</a:t>
            </a:r>
            <a:r>
              <a:rPr lang="zh-CN" altLang="en-US" sz="2800" b="0" i="0">
                <a:latin typeface="微软雅黑" panose="020B0503020204020204" pitchFamily="34" charset="-122"/>
                <a:ea typeface="微软雅黑" panose="020B0503020204020204" pitchFamily="34" charset="-122"/>
              </a:rPr>
              <a:t>质点的振动方向与传播方向平行的波。在纵波中波长是指相邻两个密部或疏部之间的距离。</a:t>
            </a:r>
            <a:endParaRPr lang="zh-CN" altLang="en-US" sz="2800" b="0" i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914672" y="-135"/>
            <a:ext cx="170906" cy="3240000"/>
            <a:chOff x="0" y="0"/>
            <a:chExt cx="227875" cy="11758474"/>
          </a:xfrm>
        </p:grpSpPr>
        <p:sp>
          <p:nvSpPr>
            <p:cNvPr id="12" name="AutoShape 12"/>
            <p:cNvSpPr/>
            <p:nvPr/>
          </p:nvSpPr>
          <p:spPr>
            <a:xfrm>
              <a:off x="0" y="0"/>
              <a:ext cx="227875" cy="11758474"/>
            </a:xfrm>
            <a:prstGeom prst="rect">
              <a:avLst/>
            </a:prstGeom>
            <a:solidFill>
              <a:srgbClr val="EB6100">
                <a:alpha val="76863"/>
              </a:srgbClr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457208" y="1790588"/>
            <a:ext cx="156664" cy="3240000"/>
            <a:chOff x="0" y="0"/>
            <a:chExt cx="208885" cy="11758474"/>
          </a:xfrm>
        </p:grpSpPr>
        <p:sp>
          <p:nvSpPr>
            <p:cNvPr id="14" name="AutoShape 14"/>
            <p:cNvSpPr/>
            <p:nvPr/>
          </p:nvSpPr>
          <p:spPr>
            <a:xfrm>
              <a:off x="0" y="0"/>
              <a:ext cx="208885" cy="11758474"/>
            </a:xfrm>
            <a:prstGeom prst="rect">
              <a:avLst/>
            </a:prstGeom>
            <a:solidFill>
              <a:srgbClr val="1D2088">
                <a:alpha val="76863"/>
              </a:srgbClr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7144985" y="8977630"/>
            <a:ext cx="183530" cy="1297137"/>
            <a:chOff x="0" y="0"/>
            <a:chExt cx="244706" cy="1729516"/>
          </a:xfrm>
        </p:grpSpPr>
        <p:sp>
          <p:nvSpPr>
            <p:cNvPr id="16" name="AutoShape 16"/>
            <p:cNvSpPr/>
            <p:nvPr/>
          </p:nvSpPr>
          <p:spPr>
            <a:xfrm>
              <a:off x="0" y="0"/>
              <a:ext cx="244706" cy="1729516"/>
            </a:xfrm>
            <a:prstGeom prst="rect">
              <a:avLst/>
            </a:prstGeom>
            <a:solidFill>
              <a:srgbClr val="EB6100">
                <a:alpha val="76863"/>
              </a:srgbClr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7678400" y="6972163"/>
            <a:ext cx="176394" cy="3302648"/>
            <a:chOff x="0" y="0"/>
            <a:chExt cx="235193" cy="4403530"/>
          </a:xfrm>
        </p:grpSpPr>
        <p:sp>
          <p:nvSpPr>
            <p:cNvPr id="18" name="AutoShape 18"/>
            <p:cNvSpPr/>
            <p:nvPr/>
          </p:nvSpPr>
          <p:spPr>
            <a:xfrm>
              <a:off x="0" y="0"/>
              <a:ext cx="235193" cy="4403530"/>
            </a:xfrm>
            <a:prstGeom prst="rect">
              <a:avLst/>
            </a:prstGeom>
            <a:solidFill>
              <a:srgbClr val="1D2088">
                <a:alpha val="76863"/>
              </a:srgbClr>
            </a:solidFill>
          </p:spPr>
        </p:sp>
      </p:grpSp>
      <p:sp>
        <p:nvSpPr>
          <p:cNvPr id="31" name="TextBox 10"/>
          <p:cNvSpPr txBox="1"/>
          <p:nvPr/>
        </p:nvSpPr>
        <p:spPr>
          <a:xfrm>
            <a:off x="1266825" y="-19050"/>
            <a:ext cx="11254105" cy="1435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>
              <a:lnSpc>
                <a:spcPts val="11200"/>
              </a:lnSpc>
              <a:spcBef>
                <a:spcPct val="0"/>
              </a:spcBef>
            </a:pPr>
            <a:r>
              <a:rPr lang="zh-CN" altLang="en-US" sz="7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三、光的反射和</a:t>
            </a:r>
            <a:r>
              <a:rPr lang="zh-CN" altLang="en-US" sz="7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折射</a:t>
            </a:r>
            <a:endParaRPr lang="zh-CN" altLang="en-US" sz="7000" b="1" dirty="0">
              <a:solidFill>
                <a:srgbClr val="1D208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1600" y="2324100"/>
            <a:ext cx="9000490" cy="6572250"/>
            <a:chOff x="4800" y="3300"/>
            <a:chExt cx="14174" cy="10350"/>
          </a:xfrm>
        </p:grpSpPr>
        <p:pic>
          <p:nvPicPr>
            <p:cNvPr id="4" name="图片 3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4800" y="3300"/>
              <a:ext cx="13800" cy="10350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17760" y="7617"/>
              <a:ext cx="1046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6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3600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3600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7760" y="8940"/>
              <a:ext cx="1214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6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3600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3600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0320" y="7260"/>
              <a:ext cx="3755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6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θ</a:t>
              </a:r>
              <a:r>
                <a:rPr lang="en-US" altLang="zh-CN" sz="3600" baseline="-2500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3600" baseline="-250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1400" y="8820"/>
              <a:ext cx="2694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6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θ</a:t>
              </a:r>
              <a:r>
                <a:rPr lang="en-US" altLang="zh-CN" sz="3600" baseline="-250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2</a:t>
              </a:r>
              <a:endParaRPr lang="en-US" altLang="zh-CN" sz="3600" baseline="-25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12725400" y="5372100"/>
                <a:ext cx="2367280" cy="1297940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3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3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𝑠𝑖𝑛</m:t>
                          </m:r>
                          <m:sSub>
                            <m:sSubPr>
                              <m:ctrlPr>
                                <a:rPr lang="en-US" altLang="zh-CN" sz="3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600" i="1">
                                  <a:latin typeface="Cambria Math" panose="02040503050406030204" charset="0"/>
                                  <a:ea typeface="微软雅黑" panose="020B0503020204020204" pitchFamily="34" charset="-122"/>
                                  <a:cs typeface="Cambria Math" panose="02040503050406030204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altLang="zh-CN" sz="3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3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𝑠𝑖𝑛</m:t>
                          </m:r>
                          <m:sSub>
                            <m:sSubPr>
                              <m:ctrlPr>
                                <a:rPr lang="en-US" altLang="zh-CN" sz="3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600" i="1">
                                  <a:latin typeface="Cambria Math" panose="02040503050406030204" charset="0"/>
                                  <a:ea typeface="微软雅黑" panose="020B0503020204020204" pitchFamily="34" charset="-122"/>
                                  <a:cs typeface="Cambria Math" panose="02040503050406030204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altLang="zh-CN" sz="3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sz="36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3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3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3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3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3600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5400" y="5372100"/>
                <a:ext cx="2367280" cy="1297940"/>
              </a:xfrm>
              <a:prstGeom prst="rect">
                <a:avLst/>
              </a:prstGeom>
              <a:blipFill rotWithShape="1">
                <a:blip r:embed="rId2"/>
                <a:stretch>
                  <a:fillRect r="-6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/>
          <p:cNvSpPr txBox="1"/>
          <p:nvPr/>
        </p:nvSpPr>
        <p:spPr>
          <a:xfrm>
            <a:off x="10820400" y="4533900"/>
            <a:ext cx="5869305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3600" b="0" i="0">
                <a:latin typeface="微软雅黑" panose="020B0503020204020204" pitchFamily="34" charset="-122"/>
                <a:ea typeface="微软雅黑" panose="020B0503020204020204" pitchFamily="34" charset="-122"/>
              </a:rPr>
              <a:t>入射角与折射角之间的关系</a:t>
            </a:r>
            <a:r>
              <a:rPr lang="en-US" altLang="zh-CN" sz="3600" b="0" i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sz="3600" b="0" i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ID" val="custom20205081_1*a*1"/>
  <p:tag name="KSO_WM_TEMPLATE_CATEGORY" val="custom"/>
  <p:tag name="KSO_WM_TEMPLATE_INDEX" val="20205081"/>
  <p:tag name="KSO_WM_UNIT_LAYERLEVEL" val="1"/>
  <p:tag name="KSO_WM_TAG_VERSION" val="1.0"/>
</p:tagLst>
</file>

<file path=ppt/tags/tag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.xml><?xml version="1.0" encoding="utf-8"?>
<p:tagLst xmlns:p="http://schemas.openxmlformats.org/presentationml/2006/main">
  <p:tag name="KSO_WPP_MARK_KEY" val="5f32d10e-bc9a-4042-a483-4efcc6743821"/>
  <p:tag name="COMMONDATA" val="eyJoZGlkIjoiODViY2JkMjU3NGYzZTEwMzZmMGFkZWViYmNkYWU3NDIifQ=="/>
  <p:tag name="commondata" val="eyJoZGlkIjoiMzEwNTM5NzYwMDRjMzkwZTVkZjY2ODkwMGIxNGU0OT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</Words>
  <Application>WPS 演示</Application>
  <PresentationFormat>自定义</PresentationFormat>
  <Paragraphs>34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兰米宋体</vt:lpstr>
      <vt:lpstr>Crunch ExtraBold</vt:lpstr>
      <vt:lpstr>方正风雅宋简体</vt:lpstr>
      <vt:lpstr>Retro Cute</vt:lpstr>
      <vt:lpstr>Calibri</vt:lpstr>
      <vt:lpstr>Arial Unicode MS</vt:lpstr>
      <vt:lpstr>Times New Roman</vt:lpstr>
      <vt:lpstr>Bookman Old Style</vt:lpstr>
      <vt:lpstr>Calibri</vt:lpstr>
      <vt:lpstr>华文新魏</vt:lpstr>
      <vt:lpstr>Cambria Math</vt:lpstr>
      <vt:lpstr>MS Mincho</vt:lpstr>
      <vt:lpstr>Arial</vt:lpstr>
      <vt:lpstr>Helvetica Neue</vt:lpstr>
      <vt:lpstr>Office Theme</vt:lpstr>
      <vt:lpstr>WPS</vt:lpstr>
      <vt:lpstr>冰洲石双折射 与反射偏振实验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多图</dc:title>
  <dc:creator>HP</dc:creator>
  <cp:lastModifiedBy>天星</cp:lastModifiedBy>
  <cp:revision>76</cp:revision>
  <dcterms:created xsi:type="dcterms:W3CDTF">2006-08-16T00:00:00Z</dcterms:created>
  <dcterms:modified xsi:type="dcterms:W3CDTF">2026-03-01T09:57:13Z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EF6A1BD896AF462B8A319D72747CD1F3_13</vt:lpwstr>
  </property>
  <property fmtid="{D5CDD505-2E9C-101B-9397-08002B2CF9AE}" pid="3" name="KSOProductBuildVer">
    <vt:lpwstr>2052-12.1.0.25225</vt:lpwstr>
  </property>
</Properties>
</file>