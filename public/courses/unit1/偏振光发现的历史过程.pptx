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87" r:id="rId3"/>
  </p:sldIdLst>
  <p:sldSz cx="18288000" cy="10287000"/>
  <p:notesSz cx="6858000" cy="9144000"/>
  <p:embeddedFontLst>
    <p:embeddedFont>
      <p:font typeface="微软雅黑" panose="020B0503020204020204" pitchFamily="34" charset="-122"/>
      <p:regular r:id="rId9"/>
    </p:embeddedFont>
    <p:embeddedFont>
      <p:font typeface="Calibri" panose="020F0502020204030204"/>
      <p:regular r:id="rId10"/>
      <p:bold r:id="rId11"/>
      <p:italic r:id="rId12"/>
      <p:boldItalic r:id="rId13"/>
    </p:embeddedFont>
  </p:embeddedFontLst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8" userDrawn="1">
          <p15:clr>
            <a:srgbClr val="A4A3A4"/>
          </p15:clr>
        </p15:guide>
        <p15:guide id="2" pos="285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echanism" initials="m" lastIdx="1" clrIdx="0"/>
  <p:cmAuthor id="2000" name="邵宏彬_Iz6brmEv" initials="authorId_1616016405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5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55" d="100"/>
          <a:sy n="55" d="100"/>
        </p:scale>
        <p:origin x="658" y="34"/>
      </p:cViewPr>
      <p:guideLst>
        <p:guide orient="horz" pos="2238"/>
        <p:guide pos="28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1.fntdata"/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font" Target="fonts/font5.fntdata"/><Relationship Id="rId12" Type="http://schemas.openxmlformats.org/officeDocument/2006/relationships/font" Target="fonts/font4.fntdata"/><Relationship Id="rId11" Type="http://schemas.openxmlformats.org/officeDocument/2006/relationships/font" Target="fonts/font3.fntdata"/><Relationship Id="rId10" Type="http://schemas.openxmlformats.org/officeDocument/2006/relationships/font" Target="fonts/font2.fntdata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8" name="图片 7" descr="深圳零一学院logo 标准-上下版"/>
          <p:cNvPicPr>
            <a:picLocks noChangeAspect="1"/>
          </p:cNvPicPr>
          <p:nvPr userDrawn="1"/>
        </p:nvPicPr>
        <p:blipFill>
          <a:blip r:embed="rId12"/>
          <a:srcRect l="23311" t="14941" r="28273" b="20050"/>
          <a:stretch>
            <a:fillRect/>
          </a:stretch>
        </p:blipFill>
        <p:spPr>
          <a:xfrm>
            <a:off x="16106140" y="190500"/>
            <a:ext cx="1877060" cy="1651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914672" y="-135"/>
            <a:ext cx="170906" cy="3240000"/>
            <a:chOff x="0" y="0"/>
            <a:chExt cx="227875" cy="11758474"/>
          </a:xfrm>
        </p:grpSpPr>
        <p:sp>
          <p:nvSpPr>
            <p:cNvPr id="12" name="AutoShape 12"/>
            <p:cNvSpPr/>
            <p:nvPr/>
          </p:nvSpPr>
          <p:spPr>
            <a:xfrm>
              <a:off x="0" y="0"/>
              <a:ext cx="227875" cy="11758474"/>
            </a:xfrm>
            <a:prstGeom prst="rect">
              <a:avLst/>
            </a:prstGeom>
            <a:solidFill>
              <a:srgbClr val="EB6100">
                <a:alpha val="76863"/>
              </a:srgbClr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457208" y="1790588"/>
            <a:ext cx="156664" cy="3240000"/>
            <a:chOff x="0" y="0"/>
            <a:chExt cx="208885" cy="11758474"/>
          </a:xfrm>
        </p:grpSpPr>
        <p:sp>
          <p:nvSpPr>
            <p:cNvPr id="14" name="AutoShape 14"/>
            <p:cNvSpPr/>
            <p:nvPr/>
          </p:nvSpPr>
          <p:spPr>
            <a:xfrm>
              <a:off x="0" y="0"/>
              <a:ext cx="208885" cy="11758474"/>
            </a:xfrm>
            <a:prstGeom prst="rect">
              <a:avLst/>
            </a:prstGeom>
            <a:solidFill>
              <a:srgbClr val="1D2088">
                <a:alpha val="76863"/>
              </a:srgbClr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7144985" y="8977630"/>
            <a:ext cx="183530" cy="1297137"/>
            <a:chOff x="0" y="0"/>
            <a:chExt cx="244706" cy="1729516"/>
          </a:xfrm>
        </p:grpSpPr>
        <p:sp>
          <p:nvSpPr>
            <p:cNvPr id="16" name="AutoShape 16"/>
            <p:cNvSpPr/>
            <p:nvPr/>
          </p:nvSpPr>
          <p:spPr>
            <a:xfrm>
              <a:off x="0" y="0"/>
              <a:ext cx="244706" cy="1729516"/>
            </a:xfrm>
            <a:prstGeom prst="rect">
              <a:avLst/>
            </a:prstGeom>
            <a:solidFill>
              <a:srgbClr val="EB6100">
                <a:alpha val="76863"/>
              </a:srgbClr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7678400" y="6972163"/>
            <a:ext cx="176394" cy="3302648"/>
            <a:chOff x="0" y="0"/>
            <a:chExt cx="235193" cy="4403530"/>
          </a:xfrm>
        </p:grpSpPr>
        <p:sp>
          <p:nvSpPr>
            <p:cNvPr id="18" name="AutoShape 18"/>
            <p:cNvSpPr/>
            <p:nvPr/>
          </p:nvSpPr>
          <p:spPr>
            <a:xfrm>
              <a:off x="0" y="0"/>
              <a:ext cx="235193" cy="4403530"/>
            </a:xfrm>
            <a:prstGeom prst="rect">
              <a:avLst/>
            </a:prstGeom>
            <a:solidFill>
              <a:srgbClr val="1D2088">
                <a:alpha val="76863"/>
              </a:srgbClr>
            </a:solidFill>
          </p:spPr>
        </p:sp>
      </p:grpSp>
      <p:sp>
        <p:nvSpPr>
          <p:cNvPr id="31" name="TextBox 10"/>
          <p:cNvSpPr txBox="1"/>
          <p:nvPr/>
        </p:nvSpPr>
        <p:spPr>
          <a:xfrm>
            <a:off x="1266825" y="38100"/>
            <a:ext cx="11254105" cy="1435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>
              <a:lnSpc>
                <a:spcPts val="11200"/>
              </a:lnSpc>
              <a:spcBef>
                <a:spcPct val="0"/>
              </a:spcBef>
            </a:pPr>
            <a:r>
              <a:rPr lang="zh-CN" altLang="en-US" sz="7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一、历史</a:t>
            </a:r>
            <a:r>
              <a:rPr lang="zh-CN" altLang="en-US" sz="7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缘由</a:t>
            </a:r>
            <a:endParaRPr lang="zh-CN" altLang="en-US" sz="7000" b="1" dirty="0">
              <a:solidFill>
                <a:srgbClr val="1D208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056755" y="5375275"/>
            <a:ext cx="8830310" cy="278638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indent="0" defTabSz="914400" fontAlgn="auto">
              <a:lnSpc>
                <a:spcPct val="150000"/>
              </a:lnSpc>
            </a:pPr>
            <a:endParaRPr lang="zh-CN" altLang="en-US" sz="2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382385" y="3407410"/>
            <a:ext cx="2387600" cy="54864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defTabSz="914400"/>
            <a:endParaRPr lang="zh-CN" altLang="en-US" sz="1865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4" name="组合 83"/>
          <p:cNvGrpSpPr/>
          <p:nvPr/>
        </p:nvGrpSpPr>
        <p:grpSpPr>
          <a:xfrm>
            <a:off x="5593715" y="8389620"/>
            <a:ext cx="5516245" cy="1644650"/>
            <a:chOff x="2267883" y="5383445"/>
            <a:chExt cx="3753725" cy="1288881"/>
          </a:xfrm>
        </p:grpSpPr>
        <p:sp>
          <p:nvSpPr>
            <p:cNvPr id="85" name="矩形: 圆角 84"/>
            <p:cNvSpPr/>
            <p:nvPr/>
          </p:nvSpPr>
          <p:spPr>
            <a:xfrm rot="5400000">
              <a:off x="3500305" y="4151023"/>
              <a:ext cx="1288881" cy="3753725"/>
            </a:xfrm>
            <a:prstGeom prst="roundRect">
              <a:avLst>
                <a:gd name="adj" fmla="val 5124"/>
              </a:avLst>
            </a:prstGeom>
            <a:gradFill>
              <a:gsLst>
                <a:gs pos="0">
                  <a:srgbClr val="112375">
                    <a:lumMod val="95000"/>
                    <a:lumOff val="5000"/>
                  </a:srgbClr>
                </a:gs>
                <a:gs pos="100000">
                  <a:srgbClr val="112375">
                    <a:lumMod val="85000"/>
                    <a:lumOff val="15000"/>
                    <a:alpha val="85000"/>
                  </a:srgbClr>
                </a:gs>
              </a:gsLst>
              <a:lin ang="5400000" scaled="0"/>
            </a:gradFill>
            <a:ln>
              <a:gradFill>
                <a:gsLst>
                  <a:gs pos="0">
                    <a:srgbClr val="112375"/>
                  </a:gs>
                  <a:gs pos="98639">
                    <a:srgbClr val="112375"/>
                  </a:gs>
                  <a:gs pos="50000">
                    <a:schemeClr val="accent1">
                      <a:lumMod val="30000"/>
                      <a:lumOff val="70000"/>
                    </a:schemeClr>
                  </a:gs>
                </a:gsLst>
                <a:lin ang="8400000" scaled="0"/>
              </a:gradFill>
            </a:ln>
            <a:effectLst>
              <a:outerShdw blurRad="381000" dist="38100" algn="l" rotWithShape="0">
                <a:srgbClr val="20379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2398380" y="5705914"/>
              <a:ext cx="3492732" cy="76188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2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惠更斯提出光的波动说，并用椭球波面理论定性解释了双折射现象，引出</a:t>
              </a:r>
              <a:r>
                <a:rPr kumimoji="0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“</a:t>
              </a:r>
              <a:r>
                <a:rPr kumimoji="0" lang="zh-CN" altLang="en-US" sz="2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寻常光</a:t>
              </a:r>
              <a:r>
                <a:rPr kumimoji="0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”</a:t>
              </a:r>
              <a:r>
                <a:rPr kumimoji="0" lang="zh-CN" altLang="en-US" sz="2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和</a:t>
              </a:r>
              <a:r>
                <a:rPr kumimoji="0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“</a:t>
              </a:r>
              <a:r>
                <a:rPr kumimoji="0" lang="zh-CN" altLang="en-US" sz="2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非寻常光</a:t>
              </a:r>
              <a:r>
                <a:rPr kumimoji="0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”</a:t>
              </a:r>
              <a:r>
                <a:rPr kumimoji="0" lang="zh-CN" altLang="en-US" sz="2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概念。</a:t>
              </a:r>
              <a:endPara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</p:grpSp>
      <p:sp>
        <p:nvSpPr>
          <p:cNvPr id="40" name="形状 39"/>
          <p:cNvSpPr/>
          <p:nvPr/>
        </p:nvSpPr>
        <p:spPr>
          <a:xfrm rot="19146343" flipV="1">
            <a:off x="585470" y="3003550"/>
            <a:ext cx="15840710" cy="5365750"/>
          </a:xfrm>
          <a:prstGeom prst="swooshArrow">
            <a:avLst>
              <a:gd name="adj1" fmla="val 18392"/>
              <a:gd name="adj2" fmla="val 33522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36000">
                <a:schemeClr val="accent1">
                  <a:lumMod val="45000"/>
                  <a:lumOff val="55000"/>
                </a:schemeClr>
              </a:gs>
              <a:gs pos="83000">
                <a:srgbClr val="00B0F0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0" scaled="0"/>
            <a:tileRect/>
          </a:gradFill>
          <a:effectLst>
            <a:outerShdw blurRad="406400" dist="63500" dir="2700000" algn="t" rotWithShape="0">
              <a:schemeClr val="tx1">
                <a:alpha val="40000"/>
              </a:schemeClr>
            </a:outerShdw>
          </a:effectLst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109085" y="7886700"/>
            <a:ext cx="290195" cy="689610"/>
            <a:chOff x="4117383" y="5545454"/>
            <a:chExt cx="223268" cy="525745"/>
          </a:xfrm>
          <a:solidFill>
            <a:srgbClr val="FF0000"/>
          </a:solidFill>
        </p:grpSpPr>
        <p:grpSp>
          <p:nvGrpSpPr>
            <p:cNvPr id="75" name="组合 74"/>
            <p:cNvGrpSpPr/>
            <p:nvPr/>
          </p:nvGrpSpPr>
          <p:grpSpPr>
            <a:xfrm>
              <a:off x="4117383" y="5847931"/>
              <a:ext cx="223268" cy="223268"/>
              <a:chOff x="1677575" y="3722181"/>
              <a:chExt cx="223268" cy="223268"/>
            </a:xfrm>
            <a:grpFill/>
          </p:grpSpPr>
          <p:sp>
            <p:nvSpPr>
              <p:cNvPr id="76" name="椭圆 75"/>
              <p:cNvSpPr/>
              <p:nvPr/>
            </p:nvSpPr>
            <p:spPr>
              <a:xfrm>
                <a:off x="1703524" y="3748130"/>
                <a:ext cx="171371" cy="171371"/>
              </a:xfrm>
              <a:prstGeom prst="ellipse">
                <a:avLst/>
              </a:prstGeom>
              <a:grp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7" name="椭圆 76"/>
              <p:cNvSpPr/>
              <p:nvPr/>
            </p:nvSpPr>
            <p:spPr>
              <a:xfrm>
                <a:off x="1677575" y="3722181"/>
                <a:ext cx="223268" cy="223268"/>
              </a:xfrm>
              <a:prstGeom prst="ellipse">
                <a:avLst/>
              </a:prstGeom>
              <a:grp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cxnSp>
          <p:nvCxnSpPr>
            <p:cNvPr id="3" name="直接连接符 2"/>
            <p:cNvCxnSpPr/>
            <p:nvPr/>
          </p:nvCxnSpPr>
          <p:spPr>
            <a:xfrm flipH="1">
              <a:off x="4229506" y="5545454"/>
              <a:ext cx="9771" cy="426986"/>
            </a:xfrm>
            <a:prstGeom prst="line">
              <a:avLst/>
            </a:prstGeom>
            <a:grp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组合 104"/>
          <p:cNvGrpSpPr/>
          <p:nvPr/>
        </p:nvGrpSpPr>
        <p:grpSpPr>
          <a:xfrm>
            <a:off x="6370955" y="2169160"/>
            <a:ext cx="5603240" cy="1804670"/>
            <a:chOff x="8431773" y="2879795"/>
            <a:chExt cx="2891294" cy="1057927"/>
          </a:xfrm>
        </p:grpSpPr>
        <p:sp>
          <p:nvSpPr>
            <p:cNvPr id="106" name="矩形: 圆角 105"/>
            <p:cNvSpPr/>
            <p:nvPr/>
          </p:nvSpPr>
          <p:spPr>
            <a:xfrm rot="5400000">
              <a:off x="9348456" y="1963111"/>
              <a:ext cx="1057927" cy="2891294"/>
            </a:xfrm>
            <a:prstGeom prst="roundRect">
              <a:avLst>
                <a:gd name="adj" fmla="val 5124"/>
              </a:avLst>
            </a:prstGeom>
            <a:gradFill>
              <a:gsLst>
                <a:gs pos="0">
                  <a:srgbClr val="112375">
                    <a:lumMod val="95000"/>
                    <a:lumOff val="5000"/>
                  </a:srgbClr>
                </a:gs>
                <a:gs pos="100000">
                  <a:srgbClr val="112375">
                    <a:lumMod val="85000"/>
                    <a:lumOff val="15000"/>
                    <a:alpha val="85000"/>
                  </a:srgbClr>
                </a:gs>
              </a:gsLst>
              <a:lin ang="5400000" scaled="0"/>
            </a:gradFill>
            <a:ln>
              <a:gradFill>
                <a:gsLst>
                  <a:gs pos="0">
                    <a:srgbClr val="112375"/>
                  </a:gs>
                  <a:gs pos="98639">
                    <a:srgbClr val="112375"/>
                  </a:gs>
                  <a:gs pos="50000">
                    <a:schemeClr val="accent1">
                      <a:lumMod val="30000"/>
                      <a:lumOff val="70000"/>
                    </a:schemeClr>
                  </a:gs>
                </a:gsLst>
                <a:lin ang="8400000" scaled="0"/>
              </a:gradFill>
            </a:ln>
            <a:effectLst>
              <a:outerShdw blurRad="381000" dist="38100" algn="l" rotWithShape="0">
                <a:srgbClr val="20379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107" name="文本框 106"/>
            <p:cNvSpPr txBox="1"/>
            <p:nvPr/>
          </p:nvSpPr>
          <p:spPr>
            <a:xfrm>
              <a:off x="8431773" y="3028302"/>
              <a:ext cx="2794399" cy="7028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lvl="0" indent="-28575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lang="zh-CN" altLang="en-US" sz="2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布儒斯特发现当入射角满足tanB=n2/n1（布儒斯特角）时，反射光为完全线偏振光，且偏振方向垂直于入射面。</a:t>
              </a:r>
              <a:endParaRPr lang="zh-CN" altLang="en-US" sz="2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08" name="文本框 107"/>
          <p:cNvSpPr txBox="1"/>
          <p:nvPr/>
        </p:nvSpPr>
        <p:spPr>
          <a:xfrm>
            <a:off x="10287000" y="3567430"/>
            <a:ext cx="1567180" cy="482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ctr">
              <a:defRPr sz="2800" b="1">
                <a:gradFill>
                  <a:gsLst>
                    <a:gs pos="100000">
                      <a:srgbClr val="FFFF00">
                        <a:lumMod val="75000"/>
                      </a:srgbClr>
                    </a:gs>
                    <a:gs pos="0">
                      <a:srgbClr val="FFFF00">
                        <a:lumMod val="95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FFFF00">
                        <a:lumMod val="75000"/>
                      </a:srgbClr>
                    </a:gs>
                    <a:gs pos="0">
                      <a:srgbClr val="FFFF00">
                        <a:lumMod val="95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1812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FFFF00">
                        <a:lumMod val="75000"/>
                      </a:srgbClr>
                    </a:gs>
                    <a:gs pos="0">
                      <a:srgbClr val="FFFF00">
                        <a:lumMod val="95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年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gradFill>
                <a:gsLst>
                  <a:gs pos="100000">
                    <a:srgbClr val="FFFF00">
                      <a:lumMod val="75000"/>
                    </a:srgbClr>
                  </a:gs>
                  <a:gs pos="0">
                    <a:srgbClr val="FFFF00">
                      <a:lumMod val="95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245985" y="6286501"/>
            <a:ext cx="290195" cy="918209"/>
            <a:chOff x="4117383" y="5371174"/>
            <a:chExt cx="223268" cy="700025"/>
          </a:xfrm>
          <a:solidFill>
            <a:srgbClr val="FF0000"/>
          </a:solidFill>
        </p:grpSpPr>
        <p:grpSp>
          <p:nvGrpSpPr>
            <p:cNvPr id="5" name="组合 4"/>
            <p:cNvGrpSpPr/>
            <p:nvPr/>
          </p:nvGrpSpPr>
          <p:grpSpPr>
            <a:xfrm>
              <a:off x="4117383" y="5847931"/>
              <a:ext cx="223268" cy="223268"/>
              <a:chOff x="1677575" y="3722181"/>
              <a:chExt cx="223268" cy="223268"/>
            </a:xfrm>
            <a:grpFill/>
          </p:grpSpPr>
          <p:sp>
            <p:nvSpPr>
              <p:cNvPr id="7" name="椭圆 6"/>
              <p:cNvSpPr/>
              <p:nvPr/>
            </p:nvSpPr>
            <p:spPr>
              <a:xfrm>
                <a:off x="1703524" y="3748130"/>
                <a:ext cx="171371" cy="171371"/>
              </a:xfrm>
              <a:prstGeom prst="ellipse">
                <a:avLst/>
              </a:prstGeom>
              <a:grp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" name="椭圆 7"/>
              <p:cNvSpPr/>
              <p:nvPr/>
            </p:nvSpPr>
            <p:spPr>
              <a:xfrm>
                <a:off x="1677575" y="3722181"/>
                <a:ext cx="223268" cy="223268"/>
              </a:xfrm>
              <a:prstGeom prst="ellipse">
                <a:avLst/>
              </a:prstGeom>
              <a:grp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cxnSp>
          <p:nvCxnSpPr>
            <p:cNvPr id="10" name="直接连接符 9"/>
            <p:cNvCxnSpPr/>
            <p:nvPr/>
          </p:nvCxnSpPr>
          <p:spPr>
            <a:xfrm>
              <a:off x="4229506" y="5371174"/>
              <a:ext cx="0" cy="601267"/>
            </a:xfrm>
            <a:prstGeom prst="line">
              <a:avLst/>
            </a:prstGeom>
            <a:grp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/>
          <p:cNvGrpSpPr/>
          <p:nvPr/>
        </p:nvGrpSpPr>
        <p:grpSpPr>
          <a:xfrm>
            <a:off x="10820400" y="4076700"/>
            <a:ext cx="290195" cy="1025525"/>
            <a:chOff x="4117383" y="5289359"/>
            <a:chExt cx="223268" cy="781840"/>
          </a:xfrm>
          <a:solidFill>
            <a:srgbClr val="FF0000"/>
          </a:solidFill>
        </p:grpSpPr>
        <p:grpSp>
          <p:nvGrpSpPr>
            <p:cNvPr id="20" name="组合 19"/>
            <p:cNvGrpSpPr/>
            <p:nvPr/>
          </p:nvGrpSpPr>
          <p:grpSpPr>
            <a:xfrm>
              <a:off x="4117383" y="5847931"/>
              <a:ext cx="223268" cy="223268"/>
              <a:chOff x="1677575" y="3722181"/>
              <a:chExt cx="223268" cy="223268"/>
            </a:xfrm>
            <a:grpFill/>
          </p:grpSpPr>
          <p:sp>
            <p:nvSpPr>
              <p:cNvPr id="21" name="椭圆 20"/>
              <p:cNvSpPr/>
              <p:nvPr/>
            </p:nvSpPr>
            <p:spPr>
              <a:xfrm>
                <a:off x="1703524" y="3748130"/>
                <a:ext cx="171371" cy="171371"/>
              </a:xfrm>
              <a:prstGeom prst="ellipse">
                <a:avLst/>
              </a:prstGeom>
              <a:grp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2" name="椭圆 21"/>
              <p:cNvSpPr/>
              <p:nvPr/>
            </p:nvSpPr>
            <p:spPr>
              <a:xfrm>
                <a:off x="1677575" y="3722181"/>
                <a:ext cx="223268" cy="223268"/>
              </a:xfrm>
              <a:prstGeom prst="ellipse">
                <a:avLst/>
              </a:prstGeom>
              <a:grp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cxnSp>
          <p:nvCxnSpPr>
            <p:cNvPr id="23" name="直接连接符 22"/>
            <p:cNvCxnSpPr/>
            <p:nvPr/>
          </p:nvCxnSpPr>
          <p:spPr>
            <a:xfrm flipH="1">
              <a:off x="4229506" y="5289359"/>
              <a:ext cx="5374" cy="683082"/>
            </a:xfrm>
            <a:prstGeom prst="line">
              <a:avLst/>
            </a:prstGeom>
            <a:grp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/>
          <p:cNvGrpSpPr/>
          <p:nvPr/>
        </p:nvGrpSpPr>
        <p:grpSpPr>
          <a:xfrm rot="10800000">
            <a:off x="6096000" y="7705090"/>
            <a:ext cx="290195" cy="638810"/>
            <a:chOff x="4117383" y="5584183"/>
            <a:chExt cx="223268" cy="487016"/>
          </a:xfrm>
          <a:solidFill>
            <a:srgbClr val="FF0000"/>
          </a:solidFill>
        </p:grpSpPr>
        <p:grpSp>
          <p:nvGrpSpPr>
            <p:cNvPr id="25" name="组合 24"/>
            <p:cNvGrpSpPr/>
            <p:nvPr/>
          </p:nvGrpSpPr>
          <p:grpSpPr>
            <a:xfrm>
              <a:off x="4117383" y="5847931"/>
              <a:ext cx="223268" cy="223268"/>
              <a:chOff x="1677575" y="3722181"/>
              <a:chExt cx="223268" cy="223268"/>
            </a:xfrm>
            <a:grpFill/>
          </p:grpSpPr>
          <p:sp>
            <p:nvSpPr>
              <p:cNvPr id="26" name="椭圆 25"/>
              <p:cNvSpPr/>
              <p:nvPr/>
            </p:nvSpPr>
            <p:spPr>
              <a:xfrm>
                <a:off x="1703524" y="3748130"/>
                <a:ext cx="171371" cy="171371"/>
              </a:xfrm>
              <a:prstGeom prst="ellipse">
                <a:avLst/>
              </a:prstGeom>
              <a:grp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1677575" y="3722181"/>
                <a:ext cx="223268" cy="223268"/>
              </a:xfrm>
              <a:prstGeom prst="ellipse">
                <a:avLst/>
              </a:prstGeom>
              <a:grp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cxnSp>
          <p:nvCxnSpPr>
            <p:cNvPr id="28" name="直接连接符 27"/>
            <p:cNvCxnSpPr/>
            <p:nvPr/>
          </p:nvCxnSpPr>
          <p:spPr>
            <a:xfrm>
              <a:off x="4223643" y="5584183"/>
              <a:ext cx="5374" cy="388258"/>
            </a:xfrm>
            <a:prstGeom prst="line">
              <a:avLst/>
            </a:prstGeom>
            <a:grp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/>
          <p:cNvGrpSpPr/>
          <p:nvPr/>
        </p:nvGrpSpPr>
        <p:grpSpPr>
          <a:xfrm rot="10800000">
            <a:off x="9525000" y="5753100"/>
            <a:ext cx="290195" cy="914400"/>
            <a:chOff x="4117383" y="5353070"/>
            <a:chExt cx="223268" cy="718129"/>
          </a:xfrm>
          <a:solidFill>
            <a:srgbClr val="FF0000"/>
          </a:solidFill>
        </p:grpSpPr>
        <p:grpSp>
          <p:nvGrpSpPr>
            <p:cNvPr id="30" name="组合 29"/>
            <p:cNvGrpSpPr/>
            <p:nvPr/>
          </p:nvGrpSpPr>
          <p:grpSpPr>
            <a:xfrm>
              <a:off x="4117383" y="5847931"/>
              <a:ext cx="223268" cy="223268"/>
              <a:chOff x="1677575" y="3722181"/>
              <a:chExt cx="223268" cy="223268"/>
            </a:xfrm>
            <a:grpFill/>
          </p:grpSpPr>
          <p:sp>
            <p:nvSpPr>
              <p:cNvPr id="32" name="椭圆 31"/>
              <p:cNvSpPr/>
              <p:nvPr/>
            </p:nvSpPr>
            <p:spPr>
              <a:xfrm>
                <a:off x="1703524" y="3748130"/>
                <a:ext cx="171371" cy="171371"/>
              </a:xfrm>
              <a:prstGeom prst="ellipse">
                <a:avLst/>
              </a:prstGeom>
              <a:grp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1677575" y="3722181"/>
                <a:ext cx="223268" cy="223268"/>
              </a:xfrm>
              <a:prstGeom prst="ellipse">
                <a:avLst/>
              </a:prstGeom>
              <a:grp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cxnSp>
          <p:nvCxnSpPr>
            <p:cNvPr id="35" name="直接连接符 34"/>
            <p:cNvCxnSpPr/>
            <p:nvPr/>
          </p:nvCxnSpPr>
          <p:spPr>
            <a:xfrm>
              <a:off x="4223643" y="5353070"/>
              <a:ext cx="5374" cy="619386"/>
            </a:xfrm>
            <a:prstGeom prst="line">
              <a:avLst/>
            </a:prstGeom>
            <a:grp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组合 37"/>
          <p:cNvGrpSpPr/>
          <p:nvPr/>
        </p:nvGrpSpPr>
        <p:grpSpPr>
          <a:xfrm>
            <a:off x="1079500" y="6773545"/>
            <a:ext cx="3876040" cy="1214755"/>
            <a:chOff x="3380" y="8867"/>
            <a:chExt cx="6104" cy="1913"/>
          </a:xfrm>
        </p:grpSpPr>
        <p:grpSp>
          <p:nvGrpSpPr>
            <p:cNvPr id="59" name="组合 58"/>
            <p:cNvGrpSpPr/>
            <p:nvPr/>
          </p:nvGrpSpPr>
          <p:grpSpPr>
            <a:xfrm>
              <a:off x="3380" y="8867"/>
              <a:ext cx="6105" cy="1857"/>
              <a:chOff x="907125" y="2330089"/>
              <a:chExt cx="3326361" cy="1544654"/>
            </a:xfrm>
          </p:grpSpPr>
          <p:sp>
            <p:nvSpPr>
              <p:cNvPr id="60" name="矩形: 圆角 59"/>
              <p:cNvSpPr/>
              <p:nvPr/>
            </p:nvSpPr>
            <p:spPr>
              <a:xfrm rot="5400000">
                <a:off x="1803472" y="1444729"/>
                <a:ext cx="1544654" cy="3315374"/>
              </a:xfrm>
              <a:prstGeom prst="roundRect">
                <a:avLst>
                  <a:gd name="adj" fmla="val 5124"/>
                </a:avLst>
              </a:prstGeom>
              <a:gradFill>
                <a:gsLst>
                  <a:gs pos="0">
                    <a:srgbClr val="112375">
                      <a:lumMod val="95000"/>
                      <a:lumOff val="5000"/>
                    </a:srgbClr>
                  </a:gs>
                  <a:gs pos="100000">
                    <a:srgbClr val="112375">
                      <a:lumMod val="85000"/>
                      <a:lumOff val="15000"/>
                      <a:alpha val="85000"/>
                    </a:srgbClr>
                  </a:gs>
                </a:gsLst>
                <a:lin ang="5400000" scaled="0"/>
              </a:gradFill>
              <a:ln>
                <a:gradFill>
                  <a:gsLst>
                    <a:gs pos="0">
                      <a:srgbClr val="112375"/>
                    </a:gs>
                    <a:gs pos="98639">
                      <a:srgbClr val="112375"/>
                    </a:gs>
                    <a:gs pos="50000">
                      <a:schemeClr val="accent1">
                        <a:lumMod val="30000"/>
                        <a:lumOff val="70000"/>
                      </a:schemeClr>
                    </a:gs>
                  </a:gsLst>
                  <a:lin ang="8400000" scaled="0"/>
                </a:gradFill>
              </a:ln>
              <a:effectLst>
                <a:outerShdw blurRad="381000" dist="38100" algn="l" rotWithShape="0">
                  <a:srgbClr val="20379B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1" name="文本框 60"/>
              <p:cNvSpPr txBox="1"/>
              <p:nvPr/>
            </p:nvSpPr>
            <p:spPr>
              <a:xfrm>
                <a:off x="907125" y="2506490"/>
                <a:ext cx="3228286" cy="1087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marR="0" lvl="0" indent="-28575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微软雅黑" panose="020B0503020204020204" pitchFamily="34" charset="-122"/>
                  </a:rPr>
                  <a:t>巴托林首次通过方解石发现双折射现象。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36" name="文本框 35"/>
            <p:cNvSpPr txBox="1"/>
            <p:nvPr/>
          </p:nvSpPr>
          <p:spPr>
            <a:xfrm>
              <a:off x="6938" y="10020"/>
              <a:ext cx="2407" cy="7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defRPr sz="2800" b="1">
                  <a:gradFill>
                    <a:gsLst>
                      <a:gs pos="100000">
                        <a:srgbClr val="FFFF00">
                          <a:lumMod val="75000"/>
                        </a:srgbClr>
                      </a:gs>
                      <a:gs pos="0">
                        <a:srgbClr val="FFFF00">
                          <a:lumMod val="95000"/>
                        </a:srgbClr>
                      </a:gs>
                    </a:gsLst>
                    <a:lin ang="54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100000">
                        <a:srgbClr val="FFFF00">
                          <a:lumMod val="75000"/>
                        </a:srgbClr>
                      </a:gs>
                      <a:gs pos="0">
                        <a:srgbClr val="FFFF00">
                          <a:lumMod val="95000"/>
                        </a:srgbClr>
                      </a:gs>
                    </a:gsLst>
                    <a:lin ang="5400000" scaled="0"/>
                  </a:gra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1669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100000">
                        <a:srgbClr val="FFFF00">
                          <a:lumMod val="75000"/>
                        </a:srgbClr>
                      </a:gs>
                      <a:gs pos="0">
                        <a:srgbClr val="FFFF00">
                          <a:lumMod val="95000"/>
                        </a:srgbClr>
                      </a:gs>
                    </a:gsLst>
                    <a:lin ang="5400000" scaled="0"/>
                  </a:gra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年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FFFF00">
                        <a:lumMod val="75000"/>
                      </a:srgbClr>
                    </a:gs>
                    <a:gs pos="0">
                      <a:srgbClr val="FFFF00">
                        <a:lumMod val="95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5400675" y="8420100"/>
            <a:ext cx="1528445" cy="482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ctr">
              <a:defRPr sz="2800" b="1">
                <a:gradFill>
                  <a:gsLst>
                    <a:gs pos="100000">
                      <a:srgbClr val="FFFF00">
                        <a:lumMod val="75000"/>
                      </a:srgbClr>
                    </a:gs>
                    <a:gs pos="0">
                      <a:srgbClr val="FFFF00">
                        <a:lumMod val="95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FFFF00">
                        <a:lumMod val="75000"/>
                      </a:srgbClr>
                    </a:gs>
                    <a:gs pos="0">
                      <a:srgbClr val="FFFF00">
                        <a:lumMod val="95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1690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FFFF00">
                        <a:lumMod val="75000"/>
                      </a:srgbClr>
                    </a:gs>
                    <a:gs pos="0">
                      <a:srgbClr val="FFFF00">
                        <a:lumMod val="95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年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gradFill>
                <a:gsLst>
                  <a:gs pos="100000">
                    <a:srgbClr val="FFFF00">
                      <a:lumMod val="75000"/>
                    </a:srgbClr>
                  </a:gs>
                  <a:gs pos="0">
                    <a:srgbClr val="FFFF00">
                      <a:lumMod val="95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2819083" y="4838383"/>
            <a:ext cx="5338762" cy="1397317"/>
            <a:chOff x="6360" y="5820"/>
            <a:chExt cx="8407" cy="2200"/>
          </a:xfrm>
        </p:grpSpPr>
        <p:grpSp>
          <p:nvGrpSpPr>
            <p:cNvPr id="92" name="组合 91"/>
            <p:cNvGrpSpPr/>
            <p:nvPr/>
          </p:nvGrpSpPr>
          <p:grpSpPr>
            <a:xfrm>
              <a:off x="6360" y="5820"/>
              <a:ext cx="8223" cy="2108"/>
              <a:chOff x="3754125" y="2883809"/>
              <a:chExt cx="4687819" cy="912854"/>
            </a:xfrm>
          </p:grpSpPr>
          <p:sp>
            <p:nvSpPr>
              <p:cNvPr id="93" name="矩形: 圆角 92"/>
              <p:cNvSpPr/>
              <p:nvPr/>
            </p:nvSpPr>
            <p:spPr>
              <a:xfrm rot="5400000">
                <a:off x="5641607" y="996326"/>
                <a:ext cx="912854" cy="4687819"/>
              </a:xfrm>
              <a:prstGeom prst="roundRect">
                <a:avLst>
                  <a:gd name="adj" fmla="val 5124"/>
                </a:avLst>
              </a:prstGeom>
              <a:gradFill>
                <a:gsLst>
                  <a:gs pos="0">
                    <a:srgbClr val="112375">
                      <a:lumMod val="95000"/>
                      <a:lumOff val="5000"/>
                    </a:srgbClr>
                  </a:gs>
                  <a:gs pos="100000">
                    <a:srgbClr val="112375">
                      <a:lumMod val="85000"/>
                      <a:lumOff val="15000"/>
                      <a:alpha val="85000"/>
                    </a:srgbClr>
                  </a:gs>
                </a:gsLst>
                <a:lin ang="5400000" scaled="0"/>
              </a:gradFill>
              <a:ln>
                <a:gradFill>
                  <a:gsLst>
                    <a:gs pos="0">
                      <a:srgbClr val="112375"/>
                    </a:gs>
                    <a:gs pos="98639">
                      <a:srgbClr val="112375"/>
                    </a:gs>
                    <a:gs pos="50000">
                      <a:schemeClr val="accent1">
                        <a:lumMod val="30000"/>
                        <a:lumOff val="70000"/>
                      </a:schemeClr>
                    </a:gs>
                  </a:gsLst>
                  <a:lin ang="8400000" scaled="0"/>
                </a:gradFill>
              </a:ln>
              <a:effectLst>
                <a:outerShdw blurRad="381000" dist="38100" algn="l" rotWithShape="0">
                  <a:srgbClr val="20379B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endParaRPr>
              </a:p>
            </p:txBody>
          </p:sp>
          <p:sp>
            <p:nvSpPr>
              <p:cNvPr id="94" name="文本框 93"/>
              <p:cNvSpPr txBox="1"/>
              <p:nvPr/>
            </p:nvSpPr>
            <p:spPr>
              <a:xfrm>
                <a:off x="3776914" y="2922566"/>
                <a:ext cx="4587402" cy="5658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marR="0" lvl="0" indent="-28575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微软雅黑" panose="020B0503020204020204" pitchFamily="34" charset="-122"/>
                  </a:rPr>
                  <a:t>牛顿认为光可能具有</a:t>
                </a:r>
                <a:r>
                  <a:rPr kumimoji="0" lang="en-US" altLang="zh-CN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微软雅黑" panose="020B0503020204020204" pitchFamily="34" charset="-122"/>
                  </a:rPr>
                  <a:t>“</a:t>
                </a:r>
                <a:r>
                  <a:rPr kumimoji="0" lang="zh-CN" altLang="en-US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微软雅黑" panose="020B0503020204020204" pitchFamily="34" charset="-122"/>
                  </a:rPr>
                  <a:t>侧面属性</a:t>
                </a:r>
                <a:r>
                  <a:rPr kumimoji="0" lang="en-US" altLang="zh-CN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微软雅黑" panose="020B0503020204020204" pitchFamily="34" charset="-122"/>
                  </a:rPr>
                  <a:t>”</a:t>
                </a:r>
                <a:r>
                  <a:rPr kumimoji="0" lang="zh-CN" altLang="en-US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微软雅黑" panose="020B0503020204020204" pitchFamily="34" charset="-122"/>
                  </a:rPr>
                  <a:t>，但未认识横波本质</a:t>
                </a:r>
                <a:r>
                  <a:rPr kumimoji="0" lang="zh-CN" altLang="en-US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微软雅黑" panose="020B0503020204020204" pitchFamily="34" charset="-122"/>
                  </a:rPr>
                  <a:t>。</a:t>
                </a:r>
                <a:endParaRPr kumimoji="0" lang="zh-CN" altLang="en-US" sz="2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41" name="文本框 40"/>
            <p:cNvSpPr txBox="1"/>
            <p:nvPr/>
          </p:nvSpPr>
          <p:spPr>
            <a:xfrm>
              <a:off x="12360" y="7260"/>
              <a:ext cx="2407" cy="7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defRPr sz="2800" b="1">
                  <a:gradFill>
                    <a:gsLst>
                      <a:gs pos="100000">
                        <a:srgbClr val="FFFF00">
                          <a:lumMod val="75000"/>
                        </a:srgbClr>
                      </a:gs>
                      <a:gs pos="0">
                        <a:srgbClr val="FFFF00">
                          <a:lumMod val="95000"/>
                        </a:srgbClr>
                      </a:gs>
                    </a:gsLst>
                    <a:lin ang="54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100000">
                        <a:srgbClr val="FFFF00">
                          <a:lumMod val="75000"/>
                        </a:srgbClr>
                      </a:gs>
                      <a:gs pos="0">
                        <a:srgbClr val="FFFF00">
                          <a:lumMod val="95000"/>
                        </a:srgbClr>
                      </a:gs>
                    </a:gsLst>
                    <a:lin ang="5400000" scaled="0"/>
                  </a:gra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1704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100000">
                        <a:srgbClr val="FFFF00">
                          <a:lumMod val="75000"/>
                        </a:srgbClr>
                      </a:gs>
                      <a:gs pos="0">
                        <a:srgbClr val="FFFF00">
                          <a:lumMod val="95000"/>
                        </a:srgbClr>
                      </a:gs>
                    </a:gsLst>
                    <a:lin ang="5400000" scaled="0"/>
                  </a:gra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年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FFFF00">
                        <a:lumMod val="75000"/>
                      </a:srgbClr>
                    </a:gs>
                    <a:gs pos="0">
                      <a:srgbClr val="FFFF00">
                        <a:lumMod val="95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8991600" y="6661471"/>
            <a:ext cx="5189851" cy="2169159"/>
            <a:chOff x="15480" y="10131"/>
            <a:chExt cx="8173" cy="3416"/>
          </a:xfrm>
        </p:grpSpPr>
        <p:grpSp>
          <p:nvGrpSpPr>
            <p:cNvPr id="96" name="组合 95"/>
            <p:cNvGrpSpPr/>
            <p:nvPr/>
          </p:nvGrpSpPr>
          <p:grpSpPr>
            <a:xfrm>
              <a:off x="15667" y="10131"/>
              <a:ext cx="7986" cy="3416"/>
              <a:chOff x="7314463" y="5041650"/>
              <a:chExt cx="2698246" cy="1791160"/>
            </a:xfrm>
          </p:grpSpPr>
          <p:sp>
            <p:nvSpPr>
              <p:cNvPr id="97" name="矩形: 圆角 96"/>
              <p:cNvSpPr/>
              <p:nvPr/>
            </p:nvSpPr>
            <p:spPr>
              <a:xfrm rot="5400000">
                <a:off x="7980644" y="4375468"/>
                <a:ext cx="1364869" cy="2697232"/>
              </a:xfrm>
              <a:prstGeom prst="roundRect">
                <a:avLst>
                  <a:gd name="adj" fmla="val 5124"/>
                </a:avLst>
              </a:prstGeom>
              <a:gradFill>
                <a:gsLst>
                  <a:gs pos="0">
                    <a:srgbClr val="112375">
                      <a:lumMod val="95000"/>
                      <a:lumOff val="5000"/>
                    </a:srgbClr>
                  </a:gs>
                  <a:gs pos="100000">
                    <a:srgbClr val="112375">
                      <a:lumMod val="85000"/>
                      <a:lumOff val="15000"/>
                      <a:alpha val="85000"/>
                    </a:srgbClr>
                  </a:gs>
                </a:gsLst>
                <a:lin ang="5400000" scaled="0"/>
              </a:gradFill>
              <a:ln>
                <a:gradFill>
                  <a:gsLst>
                    <a:gs pos="0">
                      <a:srgbClr val="112375"/>
                    </a:gs>
                    <a:gs pos="98639">
                      <a:srgbClr val="112375"/>
                    </a:gs>
                    <a:gs pos="50000">
                      <a:schemeClr val="accent1">
                        <a:lumMod val="30000"/>
                        <a:lumOff val="70000"/>
                      </a:schemeClr>
                    </a:gs>
                  </a:gsLst>
                  <a:lin ang="8400000" scaled="0"/>
                </a:gradFill>
              </a:ln>
              <a:effectLst>
                <a:outerShdw blurRad="381000" dist="38100" algn="l" rotWithShape="0">
                  <a:srgbClr val="20379B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7429002" y="5456930"/>
                <a:ext cx="2583707" cy="137588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285750" lvl="0" indent="-28575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微软雅黑" panose="020B0503020204020204" pitchFamily="34" charset="-122"/>
                  </a:rPr>
                  <a:t>马吕斯发现反射偏振光提出了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微软雅黑" panose="020B0503020204020204" pitchFamily="34" charset="-122"/>
                  </a:rPr>
                  <a:t>“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微软雅黑" panose="020B0503020204020204" pitchFamily="34" charset="-122"/>
                  </a:rPr>
                  <a:t>偏振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微软雅黑" panose="020B0503020204020204" pitchFamily="34" charset="-122"/>
                  </a:rPr>
                  <a:t>”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微软雅黑" panose="020B0503020204020204" pitchFamily="34" charset="-122"/>
                  </a:rPr>
                  <a:t>的概念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微软雅黑" panose="020B0503020204020204" pitchFamily="34" charset="-122"/>
                  </a:rPr>
                  <a:t>以及著名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微软雅黑" panose="020B0503020204020204" pitchFamily="34" charset="-122"/>
                  </a:rPr>
                  <a:t>“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微软雅黑" panose="020B0503020204020204" pitchFamily="34" charset="-122"/>
                  </a:rPr>
                  <a:t>马吕斯定律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微软雅黑" panose="020B0503020204020204" pitchFamily="34" charset="-122"/>
                  </a:rPr>
                  <a:t>”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微软雅黑" panose="020B0503020204020204" pitchFamily="34" charset="-122"/>
                  </a:rPr>
                  <a:t>。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43" name="文本框 42"/>
            <p:cNvSpPr txBox="1"/>
            <p:nvPr/>
          </p:nvSpPr>
          <p:spPr>
            <a:xfrm>
              <a:off x="15480" y="10220"/>
              <a:ext cx="2407" cy="7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defRPr sz="2800" b="1">
                  <a:gradFill>
                    <a:gsLst>
                      <a:gs pos="100000">
                        <a:srgbClr val="FFFF00">
                          <a:lumMod val="75000"/>
                        </a:srgbClr>
                      </a:gs>
                      <a:gs pos="0">
                        <a:srgbClr val="FFFF00">
                          <a:lumMod val="95000"/>
                        </a:srgbClr>
                      </a:gs>
                    </a:gsLst>
                    <a:lin ang="54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100000">
                        <a:srgbClr val="FFFF00">
                          <a:lumMod val="75000"/>
                        </a:srgbClr>
                      </a:gs>
                      <a:gs pos="0">
                        <a:srgbClr val="FFFF00">
                          <a:lumMod val="95000"/>
                        </a:srgbClr>
                      </a:gs>
                    </a:gsLst>
                    <a:lin ang="5400000" scaled="0"/>
                  </a:gra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1808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100000">
                        <a:srgbClr val="FFFF00">
                          <a:lumMod val="75000"/>
                        </a:srgbClr>
                      </a:gs>
                      <a:gs pos="0">
                        <a:srgbClr val="FFFF00">
                          <a:lumMod val="95000"/>
                        </a:srgbClr>
                      </a:gs>
                    </a:gsLst>
                    <a:lin ang="5400000" scaled="0"/>
                  </a:gra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年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FFFF00">
                        <a:lumMod val="75000"/>
                      </a:srgbClr>
                    </a:gs>
                    <a:gs pos="0">
                      <a:srgbClr val="FFFF00">
                        <a:lumMod val="95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 rot="10800000">
            <a:off x="11726545" y="4427855"/>
            <a:ext cx="290195" cy="914400"/>
            <a:chOff x="4117383" y="5353070"/>
            <a:chExt cx="223268" cy="718129"/>
          </a:xfrm>
          <a:solidFill>
            <a:srgbClr val="FF0000"/>
          </a:solidFill>
        </p:grpSpPr>
        <p:grpSp>
          <p:nvGrpSpPr>
            <p:cNvPr id="37" name="组合 36"/>
            <p:cNvGrpSpPr/>
            <p:nvPr/>
          </p:nvGrpSpPr>
          <p:grpSpPr>
            <a:xfrm>
              <a:off x="4117383" y="5847931"/>
              <a:ext cx="223268" cy="223268"/>
              <a:chOff x="1677575" y="3722181"/>
              <a:chExt cx="223268" cy="223268"/>
            </a:xfrm>
            <a:grpFill/>
          </p:grpSpPr>
          <p:sp>
            <p:nvSpPr>
              <p:cNvPr id="45" name="椭圆 44"/>
              <p:cNvSpPr/>
              <p:nvPr/>
            </p:nvSpPr>
            <p:spPr>
              <a:xfrm>
                <a:off x="1703524" y="3748130"/>
                <a:ext cx="171371" cy="171371"/>
              </a:xfrm>
              <a:prstGeom prst="ellipse">
                <a:avLst/>
              </a:prstGeom>
              <a:grp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>
                <a:off x="1677575" y="3722181"/>
                <a:ext cx="223268" cy="223268"/>
              </a:xfrm>
              <a:prstGeom prst="ellipse">
                <a:avLst/>
              </a:prstGeom>
              <a:grp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cxnSp>
          <p:nvCxnSpPr>
            <p:cNvPr id="47" name="直接连接符 46"/>
            <p:cNvCxnSpPr/>
            <p:nvPr/>
          </p:nvCxnSpPr>
          <p:spPr>
            <a:xfrm>
              <a:off x="4223643" y="5353070"/>
              <a:ext cx="5374" cy="619386"/>
            </a:xfrm>
            <a:prstGeom prst="line">
              <a:avLst/>
            </a:prstGeom>
            <a:grp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组合 47"/>
          <p:cNvGrpSpPr/>
          <p:nvPr/>
        </p:nvGrpSpPr>
        <p:grpSpPr>
          <a:xfrm>
            <a:off x="11193145" y="5336541"/>
            <a:ext cx="3532522" cy="2169159"/>
            <a:chOff x="15480" y="10131"/>
            <a:chExt cx="5533" cy="3416"/>
          </a:xfrm>
        </p:grpSpPr>
        <p:grpSp>
          <p:nvGrpSpPr>
            <p:cNvPr id="49" name="组合 48"/>
            <p:cNvGrpSpPr/>
            <p:nvPr/>
          </p:nvGrpSpPr>
          <p:grpSpPr>
            <a:xfrm>
              <a:off x="15667" y="10131"/>
              <a:ext cx="5346" cy="3416"/>
              <a:chOff x="7314463" y="5041651"/>
              <a:chExt cx="1806117" cy="1791159"/>
            </a:xfrm>
          </p:grpSpPr>
          <p:sp>
            <p:nvSpPr>
              <p:cNvPr id="50" name="矩形: 圆角 96"/>
              <p:cNvSpPr/>
              <p:nvPr/>
            </p:nvSpPr>
            <p:spPr>
              <a:xfrm rot="5400000">
                <a:off x="7781670" y="4574444"/>
                <a:ext cx="830037" cy="1764451"/>
              </a:xfrm>
              <a:prstGeom prst="roundRect">
                <a:avLst>
                  <a:gd name="adj" fmla="val 5124"/>
                </a:avLst>
              </a:prstGeom>
              <a:gradFill>
                <a:gsLst>
                  <a:gs pos="0">
                    <a:srgbClr val="112375">
                      <a:lumMod val="95000"/>
                      <a:lumOff val="5000"/>
                    </a:srgbClr>
                  </a:gs>
                  <a:gs pos="100000">
                    <a:srgbClr val="112375">
                      <a:lumMod val="85000"/>
                      <a:lumOff val="15000"/>
                      <a:alpha val="85000"/>
                    </a:srgbClr>
                  </a:gs>
                </a:gsLst>
                <a:lin ang="5400000" scaled="0"/>
              </a:gradFill>
              <a:ln>
                <a:gradFill>
                  <a:gsLst>
                    <a:gs pos="0">
                      <a:srgbClr val="112375"/>
                    </a:gs>
                    <a:gs pos="98639">
                      <a:srgbClr val="112375"/>
                    </a:gs>
                    <a:gs pos="50000">
                      <a:schemeClr val="accent1">
                        <a:lumMod val="30000"/>
                        <a:lumOff val="70000"/>
                      </a:schemeClr>
                    </a:gs>
                  </a:gsLst>
                  <a:lin ang="8400000" scaled="0"/>
                </a:gradFill>
              </a:ln>
              <a:effectLst>
                <a:outerShdw blurRad="381000" dist="38100" algn="l" rotWithShape="0">
                  <a:srgbClr val="20379B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1" name="文本框 50"/>
              <p:cNvSpPr txBox="1"/>
              <p:nvPr/>
            </p:nvSpPr>
            <p:spPr>
              <a:xfrm>
                <a:off x="7429046" y="5456931"/>
                <a:ext cx="1691534" cy="137587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285750" lvl="0" indent="-28575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微软雅黑" panose="020B0503020204020204" pitchFamily="34" charset="-122"/>
                  </a:rPr>
                  <a:t>托马斯提出光是横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微软雅黑" panose="020B0503020204020204" pitchFamily="34" charset="-122"/>
                  </a:rPr>
                  <a:t>波。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52" name="文本框 51"/>
            <p:cNvSpPr txBox="1"/>
            <p:nvPr/>
          </p:nvSpPr>
          <p:spPr>
            <a:xfrm>
              <a:off x="15480" y="10220"/>
              <a:ext cx="2407" cy="7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defRPr sz="2800" b="1">
                  <a:gradFill>
                    <a:gsLst>
                      <a:gs pos="100000">
                        <a:srgbClr val="FFFF00">
                          <a:lumMod val="75000"/>
                        </a:srgbClr>
                      </a:gs>
                      <a:gs pos="0">
                        <a:srgbClr val="FFFF00">
                          <a:lumMod val="95000"/>
                        </a:srgbClr>
                      </a:gs>
                    </a:gsLst>
                    <a:lin ang="54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100000">
                        <a:srgbClr val="FFFF00">
                          <a:lumMod val="75000"/>
                        </a:srgbClr>
                      </a:gs>
                      <a:gs pos="0">
                        <a:srgbClr val="FFFF00">
                          <a:lumMod val="95000"/>
                        </a:srgbClr>
                      </a:gs>
                    </a:gsLst>
                    <a:lin ang="5400000" scaled="0"/>
                  </a:gra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1817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100000">
                        <a:srgbClr val="FFFF00">
                          <a:lumMod val="75000"/>
                        </a:srgbClr>
                      </a:gs>
                      <a:gs pos="0">
                        <a:srgbClr val="FFFF00">
                          <a:lumMod val="95000"/>
                        </a:srgbClr>
                      </a:gs>
                    </a:gsLst>
                    <a:lin ang="5400000" scaled="0"/>
                  </a:gra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年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FFFF00">
                        <a:lumMod val="75000"/>
                      </a:srgbClr>
                    </a:gs>
                    <a:gs pos="0">
                      <a:srgbClr val="FFFF00">
                        <a:lumMod val="95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12884150" y="2171700"/>
            <a:ext cx="290195" cy="1460500"/>
            <a:chOff x="4117383" y="4957743"/>
            <a:chExt cx="223268" cy="1113456"/>
          </a:xfrm>
          <a:solidFill>
            <a:srgbClr val="FF0000"/>
          </a:solidFill>
        </p:grpSpPr>
        <p:grpSp>
          <p:nvGrpSpPr>
            <p:cNvPr id="54" name="组合 53"/>
            <p:cNvGrpSpPr/>
            <p:nvPr/>
          </p:nvGrpSpPr>
          <p:grpSpPr>
            <a:xfrm>
              <a:off x="4117383" y="5847931"/>
              <a:ext cx="223268" cy="223268"/>
              <a:chOff x="1677575" y="3722181"/>
              <a:chExt cx="223268" cy="223268"/>
            </a:xfrm>
            <a:grpFill/>
          </p:grpSpPr>
          <p:sp>
            <p:nvSpPr>
              <p:cNvPr id="55" name="椭圆 54"/>
              <p:cNvSpPr/>
              <p:nvPr/>
            </p:nvSpPr>
            <p:spPr>
              <a:xfrm>
                <a:off x="1703524" y="3748130"/>
                <a:ext cx="171371" cy="171371"/>
              </a:xfrm>
              <a:prstGeom prst="ellipse">
                <a:avLst/>
              </a:prstGeom>
              <a:grp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" name="椭圆 55"/>
              <p:cNvSpPr/>
              <p:nvPr/>
            </p:nvSpPr>
            <p:spPr>
              <a:xfrm>
                <a:off x="1677575" y="3722181"/>
                <a:ext cx="223268" cy="223268"/>
              </a:xfrm>
              <a:prstGeom prst="ellipse">
                <a:avLst/>
              </a:prstGeom>
              <a:grp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cxnSp>
          <p:nvCxnSpPr>
            <p:cNvPr id="57" name="直接连接符 56"/>
            <p:cNvCxnSpPr/>
            <p:nvPr/>
          </p:nvCxnSpPr>
          <p:spPr>
            <a:xfrm>
              <a:off x="4229506" y="4957743"/>
              <a:ext cx="0" cy="1014698"/>
            </a:xfrm>
            <a:prstGeom prst="line">
              <a:avLst/>
            </a:prstGeom>
            <a:grp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组合 57"/>
          <p:cNvGrpSpPr/>
          <p:nvPr/>
        </p:nvGrpSpPr>
        <p:grpSpPr>
          <a:xfrm>
            <a:off x="9670415" y="571501"/>
            <a:ext cx="3876676" cy="1367154"/>
            <a:chOff x="3380" y="8867"/>
            <a:chExt cx="6105" cy="2153"/>
          </a:xfrm>
        </p:grpSpPr>
        <p:grpSp>
          <p:nvGrpSpPr>
            <p:cNvPr id="62" name="组合 61"/>
            <p:cNvGrpSpPr/>
            <p:nvPr/>
          </p:nvGrpSpPr>
          <p:grpSpPr>
            <a:xfrm>
              <a:off x="3380" y="8867"/>
              <a:ext cx="6105" cy="2123"/>
              <a:chOff x="907125" y="2330090"/>
              <a:chExt cx="3326362" cy="1765913"/>
            </a:xfrm>
          </p:grpSpPr>
          <p:sp>
            <p:nvSpPr>
              <p:cNvPr id="63" name="矩形: 圆角 59"/>
              <p:cNvSpPr/>
              <p:nvPr/>
            </p:nvSpPr>
            <p:spPr>
              <a:xfrm rot="5400000">
                <a:off x="1692798" y="1555314"/>
                <a:ext cx="1765913" cy="3315464"/>
              </a:xfrm>
              <a:prstGeom prst="roundRect">
                <a:avLst>
                  <a:gd name="adj" fmla="val 5124"/>
                </a:avLst>
              </a:prstGeom>
              <a:gradFill>
                <a:gsLst>
                  <a:gs pos="0">
                    <a:srgbClr val="112375">
                      <a:lumMod val="95000"/>
                      <a:lumOff val="5000"/>
                    </a:srgbClr>
                  </a:gs>
                  <a:gs pos="100000">
                    <a:srgbClr val="112375">
                      <a:lumMod val="85000"/>
                      <a:lumOff val="15000"/>
                      <a:alpha val="85000"/>
                    </a:srgbClr>
                  </a:gs>
                </a:gsLst>
                <a:lin ang="5400000" scaled="0"/>
              </a:gradFill>
              <a:ln>
                <a:gradFill>
                  <a:gsLst>
                    <a:gs pos="0">
                      <a:srgbClr val="112375"/>
                    </a:gs>
                    <a:gs pos="98639">
                      <a:srgbClr val="112375"/>
                    </a:gs>
                    <a:gs pos="50000">
                      <a:schemeClr val="accent1">
                        <a:lumMod val="30000"/>
                        <a:lumOff val="70000"/>
                      </a:schemeClr>
                    </a:gs>
                  </a:gsLst>
                  <a:lin ang="8400000" scaled="0"/>
                </a:gradFill>
              </a:ln>
              <a:effectLst>
                <a:outerShdw blurRad="381000" dist="38100" algn="l" rotWithShape="0">
                  <a:srgbClr val="20379B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4" name="文本框 63"/>
              <p:cNvSpPr txBox="1"/>
              <p:nvPr/>
            </p:nvSpPr>
            <p:spPr>
              <a:xfrm>
                <a:off x="907125" y="2506490"/>
                <a:ext cx="3228286" cy="15704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marR="0" lvl="0" indent="-28575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微软雅黑" panose="020B0503020204020204" pitchFamily="34" charset="-122"/>
                  </a:rPr>
                  <a:t>菲涅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微软雅黑" panose="020B0503020204020204" pitchFamily="34" charset="-122"/>
                  </a:rPr>
                  <a:t>尔用横波理论统一解释双折射、双折射、偏振，建立菲涅尔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微软雅黑" panose="020B0503020204020204" pitchFamily="34" charset="-122"/>
                  </a:rPr>
                  <a:t>公式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65" name="文本框 64"/>
            <p:cNvSpPr txBox="1"/>
            <p:nvPr/>
          </p:nvSpPr>
          <p:spPr>
            <a:xfrm>
              <a:off x="6938" y="10260"/>
              <a:ext cx="2407" cy="7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defRPr sz="2800" b="1">
                  <a:gradFill>
                    <a:gsLst>
                      <a:gs pos="100000">
                        <a:srgbClr val="FFFF00">
                          <a:lumMod val="75000"/>
                        </a:srgbClr>
                      </a:gs>
                      <a:gs pos="0">
                        <a:srgbClr val="FFFF00">
                          <a:lumMod val="95000"/>
                        </a:srgbClr>
                      </a:gs>
                    </a:gsLst>
                    <a:lin ang="54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100000">
                        <a:srgbClr val="FFFF00">
                          <a:lumMod val="75000"/>
                        </a:srgbClr>
                      </a:gs>
                      <a:gs pos="0">
                        <a:srgbClr val="FFFF00">
                          <a:lumMod val="95000"/>
                        </a:srgbClr>
                      </a:gs>
                    </a:gsLst>
                    <a:lin ang="5400000" scaled="0"/>
                  </a:gra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1821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100000">
                        <a:srgbClr val="FFFF00">
                          <a:lumMod val="75000"/>
                        </a:srgbClr>
                      </a:gs>
                      <a:gs pos="0">
                        <a:srgbClr val="FFFF00">
                          <a:lumMod val="95000"/>
                        </a:srgbClr>
                      </a:gs>
                    </a:gsLst>
                    <a:lin ang="5400000" scaled="0"/>
                  </a:gra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年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FFFF00">
                        <a:lumMod val="75000"/>
                      </a:srgbClr>
                    </a:gs>
                    <a:gs pos="0">
                      <a:srgbClr val="FFFF00">
                        <a:lumMod val="95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5f32d10e-bc9a-4042-a483-4efcc6743821"/>
  <p:tag name="COMMONDATA" val="eyJoZGlkIjoiODViY2JkMjU3NGYzZTEwMzZmMGFkZWViYmNkYWU3NDIifQ=="/>
  <p:tag name="commondata" val="eyJoZGlkIjoiMzEwNTM5NzYwMDRjMzkwZTVkZjY2ODkwMGIxNGU0OT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</Words>
  <Application>WPS 演示</Application>
  <PresentationFormat>自定义</PresentationFormat>
  <Paragraphs>30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兰米宋体</vt:lpstr>
      <vt:lpstr>Crunch ExtraBold</vt:lpstr>
      <vt:lpstr>方正风雅宋简体</vt:lpstr>
      <vt:lpstr>Retro Cute</vt:lpstr>
      <vt:lpstr>Calibri</vt:lpstr>
      <vt:lpstr>Arial Unicode MS</vt:lpstr>
      <vt:lpstr>Times New Roman</vt:lpstr>
      <vt:lpstr>Bookman Old Style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多图</dc:title>
  <dc:creator>HP</dc:creator>
  <cp:lastModifiedBy>天星</cp:lastModifiedBy>
  <cp:revision>76</cp:revision>
  <dcterms:created xsi:type="dcterms:W3CDTF">2006-08-16T00:00:00Z</dcterms:created>
  <dcterms:modified xsi:type="dcterms:W3CDTF">2026-03-01T13:06:11Z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5D7095E19F8446F7BF86E7AE3B2894C2_13</vt:lpwstr>
  </property>
  <property fmtid="{D5CDD505-2E9C-101B-9397-08002B2CF9AE}" pid="3" name="KSOProductBuildVer">
    <vt:lpwstr>2052-12.1.0.25225</vt:lpwstr>
  </property>
</Properties>
</file>