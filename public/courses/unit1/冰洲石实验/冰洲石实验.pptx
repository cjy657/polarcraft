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  <p:sldMasterId id="2147483660" r:id="rId3"/>
  </p:sldMasterIdLst>
  <p:notesMasterIdLst>
    <p:notesMasterId r:id="rId12"/>
  </p:notesMasterIdLst>
  <p:sldIdLst>
    <p:sldId id="295" r:id="rId4"/>
    <p:sldId id="321" r:id="rId5"/>
    <p:sldId id="330" r:id="rId6"/>
    <p:sldId id="331" r:id="rId7"/>
    <p:sldId id="332" r:id="rId8"/>
    <p:sldId id="315" r:id="rId9"/>
    <p:sldId id="329" r:id="rId10"/>
    <p:sldId id="320" r:id="rId11"/>
  </p:sldIdLst>
  <p:sldSz cx="18288000" cy="10287000"/>
  <p:notesSz cx="6858000" cy="9144000"/>
  <p:embeddedFontLst>
    <p:embeddedFont>
      <p:font typeface="微软雅黑" panose="020B0503020204020204" pitchFamily="34" charset="-122"/>
      <p:regular r:id="rId17"/>
    </p:embeddedFont>
    <p:embeddedFont>
      <p:font typeface="Bookman Old Style" panose="02050604050505020204" pitchFamily="18" charset="0"/>
      <p:regular r:id="rId18"/>
      <p:bold r:id="rId19"/>
      <p:italic r:id="rId20"/>
    </p:embeddedFont>
    <p:embeddedFont>
      <p:font typeface="Calibri" panose="020F0502020204030204" charset="0"/>
      <p:regular r:id="rId21"/>
      <p:bold r:id="rId22"/>
      <p:italic r:id="rId23"/>
      <p:boldItalic r:id="rId24"/>
    </p:embeddedFont>
  </p:embeddedFontLst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echanism" initials="m" lastIdx="1" clrIdx="0"/>
  <p:cmAuthor id="2000" name="邵宏彬_Iz6brmEv" initials="authorId_1616016405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5D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5" d="100"/>
          <a:sy n="55" d="100"/>
        </p:scale>
        <p:origin x="658" y="34"/>
      </p:cViewPr>
      <p:guideLst>
        <p:guide orient="horz" pos="2148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5" Type="http://schemas.openxmlformats.org/officeDocument/2006/relationships/tags" Target="tags/tag9.xml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wmf"/><Relationship Id="rId1" Type="http://schemas.openxmlformats.org/officeDocument/2006/relationships/image" Target="../media/image11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286000" y="1683545"/>
            <a:ext cx="13716000" cy="3581400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2286000" y="5403057"/>
            <a:ext cx="13716000" cy="2483643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47775" y="2564607"/>
            <a:ext cx="15773400" cy="4279106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47775" y="6884195"/>
            <a:ext cx="15773400" cy="2250281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57300" y="2738438"/>
            <a:ext cx="7772400" cy="65270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258300" y="2738438"/>
            <a:ext cx="7772400" cy="652700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82" y="547688"/>
            <a:ext cx="15773400" cy="198834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59682" y="2521745"/>
            <a:ext cx="7736681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259682" y="3757613"/>
            <a:ext cx="7736681" cy="55268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9258300" y="2521745"/>
            <a:ext cx="7774782" cy="1235868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9258300" y="3757613"/>
            <a:ext cx="7774782" cy="55268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82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59682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59682" y="685800"/>
            <a:ext cx="5898356" cy="24003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7774782" y="1481138"/>
            <a:ext cx="9258300" cy="7310438"/>
          </a:xfrm>
        </p:spPr>
        <p:txBody>
          <a:bodyPr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259682" y="3086100"/>
            <a:ext cx="5898356" cy="5717382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13087350" y="547688"/>
            <a:ext cx="3943350" cy="871775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57300" y="547688"/>
            <a:ext cx="11601450" cy="871775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pic>
        <p:nvPicPr>
          <p:cNvPr id="8" name="图片 7" descr="深圳零一学院logo 标准-上下版"/>
          <p:cNvPicPr>
            <a:picLocks noChangeAspect="1"/>
          </p:cNvPicPr>
          <p:nvPr userDrawn="1"/>
        </p:nvPicPr>
        <p:blipFill>
          <a:blip r:embed="rId12"/>
          <a:srcRect l="23311" t="14941" r="28273" b="20050"/>
          <a:stretch>
            <a:fillRect/>
          </a:stretch>
        </p:blipFill>
        <p:spPr>
          <a:xfrm>
            <a:off x="16106140" y="190500"/>
            <a:ext cx="1877060" cy="1651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257300" y="547688"/>
            <a:ext cx="15773400" cy="1988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257300" y="2738438"/>
            <a:ext cx="15773400" cy="65270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2573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057900" y="9534525"/>
            <a:ext cx="61722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2915900" y="953452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vmlDrawing" Target="../drawings/vmlDrawing1.vml"/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10.png"/><Relationship Id="rId6" Type="http://schemas.openxmlformats.org/officeDocument/2006/relationships/image" Target="../media/image9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8.wmf"/><Relationship Id="rId3" Type="http://schemas.openxmlformats.org/officeDocument/2006/relationships/oleObject" Target="../embeddings/oleObject2.bin"/><Relationship Id="rId2" Type="http://schemas.openxmlformats.org/officeDocument/2006/relationships/image" Target="../media/image7.w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5.bin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4.bin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3" Type="http://schemas.openxmlformats.org/officeDocument/2006/relationships/vmlDrawing" Target="../drawings/vmlDrawing2.vml"/><Relationship Id="rId12" Type="http://schemas.openxmlformats.org/officeDocument/2006/relationships/slideLayout" Target="../slideLayouts/slideLayout7.xml"/><Relationship Id="rId11" Type="http://schemas.openxmlformats.org/officeDocument/2006/relationships/image" Target="../media/image13.png"/><Relationship Id="rId10" Type="http://schemas.openxmlformats.org/officeDocument/2006/relationships/image" Target="../media/image12.wmf"/><Relationship Id="rId1" Type="http://schemas.openxmlformats.org/officeDocument/2006/relationships/tags" Target="../tags/tag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6.jpeg"/><Relationship Id="rId1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20000"/>
                <a:lumOff val="80000"/>
              </a:schemeClr>
            </a:gs>
            <a:gs pos="100000">
              <a:srgbClr val="FFFFFF">
                <a:alpha val="0"/>
              </a:srgbClr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 rot="2460000">
            <a:off x="14282802" y="4752638"/>
            <a:ext cx="1071563" cy="7018020"/>
          </a:xfrm>
          <a:prstGeom prst="rect">
            <a:avLst/>
          </a:prstGeom>
          <a:gradFill>
            <a:gsLst>
              <a:gs pos="4000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  <p:pic>
        <p:nvPicPr>
          <p:cNvPr id="5" name="图片 4" descr="6e4e79e0a1c16bd09def96378a23428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140" y="197121"/>
            <a:ext cx="4530090" cy="1338263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0"/>
          </a:gradFill>
          <a:ln w="12700" cmpd="sng">
            <a:noFill/>
            <a:prstDash val="solid"/>
            <a:miter lim="800000"/>
            <a:headEnd/>
            <a:tailEnd/>
          </a:ln>
          <a:effectLst>
            <a:softEdge rad="127000"/>
          </a:effectLst>
        </p:spPr>
      </p:pic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914484" y="4457768"/>
            <a:ext cx="16724462" cy="1903299"/>
          </a:xfrm>
        </p:spPr>
        <p:txBody>
          <a:bodyPr>
            <a:noAutofit/>
          </a:bodyPr>
          <a:lstStyle/>
          <a:p>
            <a:pPr marL="0" indent="0" algn="ctr" fontAlgn="auto">
              <a:lnSpc>
                <a:spcPct val="150000"/>
              </a:lnSpc>
            </a:pPr>
            <a:r>
              <a:rPr lang="zh-CN" altLang="en-US" sz="11900" b="1" spc="704" dirty="0" err="1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冰洲石实验</a:t>
            </a:r>
            <a:endParaRPr lang="zh-CN" altLang="en-US" sz="11900" b="1" spc="704" dirty="0" err="1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6"/>
          <p:cNvSpPr/>
          <p:nvPr/>
        </p:nvSpPr>
        <p:spPr>
          <a:xfrm rot="2460000">
            <a:off x="16090277" y="7486602"/>
            <a:ext cx="690563" cy="4186238"/>
          </a:xfrm>
          <a:prstGeom prst="rect">
            <a:avLst/>
          </a:prstGeom>
          <a:gradFill>
            <a:gsLst>
              <a:gs pos="40000">
                <a:schemeClr val="accent2"/>
              </a:gs>
              <a:gs pos="100000">
                <a:schemeClr val="accent2">
                  <a:lumMod val="25000"/>
                  <a:lumOff val="75000"/>
                </a:schemeClr>
              </a:gs>
              <a:gs pos="0">
                <a:schemeClr val="accent2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  <p:sp>
        <p:nvSpPr>
          <p:cNvPr id="8" name="矩形 7"/>
          <p:cNvSpPr/>
          <p:nvPr/>
        </p:nvSpPr>
        <p:spPr>
          <a:xfrm rot="2460000">
            <a:off x="12542492" y="5743851"/>
            <a:ext cx="528638" cy="6091238"/>
          </a:xfrm>
          <a:prstGeom prst="rect">
            <a:avLst/>
          </a:prstGeom>
          <a:gradFill>
            <a:gsLst>
              <a:gs pos="40000">
                <a:schemeClr val="accent2"/>
              </a:gs>
              <a:gs pos="100000">
                <a:schemeClr val="accent2">
                  <a:lumMod val="25000"/>
                  <a:lumOff val="75000"/>
                </a:schemeClr>
              </a:gs>
              <a:gs pos="0">
                <a:schemeClr val="accent2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  <p:sp>
        <p:nvSpPr>
          <p:cNvPr id="9" name="矩形 8"/>
          <p:cNvSpPr/>
          <p:nvPr/>
        </p:nvSpPr>
        <p:spPr>
          <a:xfrm rot="2460000">
            <a:off x="16227932" y="4132095"/>
            <a:ext cx="415290" cy="8259128"/>
          </a:xfrm>
          <a:prstGeom prst="rect">
            <a:avLst/>
          </a:prstGeom>
          <a:gradFill>
            <a:gsLst>
              <a:gs pos="50000">
                <a:schemeClr val="accent1"/>
              </a:gs>
              <a:gs pos="100000">
                <a:schemeClr val="accent1">
                  <a:lumMod val="25000"/>
                  <a:lumOff val="75000"/>
                </a:schemeClr>
              </a:gs>
              <a:gs pos="0">
                <a:schemeClr val="accent1">
                  <a:lumMod val="8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700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14672" y="-135"/>
            <a:ext cx="170906" cy="3240000"/>
            <a:chOff x="0" y="0"/>
            <a:chExt cx="227875" cy="11758474"/>
          </a:xfrm>
        </p:grpSpPr>
        <p:sp>
          <p:nvSpPr>
            <p:cNvPr id="12" name="AutoShape 12"/>
            <p:cNvSpPr/>
            <p:nvPr/>
          </p:nvSpPr>
          <p:spPr>
            <a:xfrm>
              <a:off x="0" y="0"/>
              <a:ext cx="227875" cy="11758474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57208" y="1790588"/>
            <a:ext cx="156664" cy="3240000"/>
            <a:chOff x="0" y="0"/>
            <a:chExt cx="208885" cy="1175847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208885" cy="11758474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144985" y="8977630"/>
            <a:ext cx="183530" cy="1297137"/>
            <a:chOff x="0" y="0"/>
            <a:chExt cx="244706" cy="1729516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244706" cy="1729516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7678400" y="6972163"/>
            <a:ext cx="176394" cy="3302648"/>
            <a:chOff x="0" y="0"/>
            <a:chExt cx="235193" cy="4403530"/>
          </a:xfrm>
        </p:grpSpPr>
        <p:sp>
          <p:nvSpPr>
            <p:cNvPr id="18" name="AutoShape 18"/>
            <p:cNvSpPr/>
            <p:nvPr/>
          </p:nvSpPr>
          <p:spPr>
            <a:xfrm>
              <a:off x="0" y="0"/>
              <a:ext cx="235193" cy="4403530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sp>
        <p:nvSpPr>
          <p:cNvPr id="31" name="TextBox 10"/>
          <p:cNvSpPr txBox="1"/>
          <p:nvPr/>
        </p:nvSpPr>
        <p:spPr>
          <a:xfrm>
            <a:off x="1266825" y="-1905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一、冰洲石观察双像</a:t>
            </a: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现象</a:t>
            </a:r>
            <a:endParaRPr lang="zh-CN" altLang="en-US" sz="7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TextBox 10"/>
          <p:cNvSpPr txBox="1"/>
          <p:nvPr/>
        </p:nvSpPr>
        <p:spPr>
          <a:xfrm>
            <a:off x="1905000" y="102870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 algn="l">
              <a:lnSpc>
                <a:spcPts val="11200"/>
              </a:lnSpc>
              <a:buClrTx/>
              <a:buSzTx/>
              <a:buFontTx/>
            </a:pPr>
            <a:r>
              <a:rPr lang="zh-CN" altLang="en-US" sz="44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实验步骤</a:t>
            </a:r>
            <a:endParaRPr lang="zh-CN" altLang="en-US" sz="44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91705" y="6057900"/>
            <a:ext cx="6096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</a:rPr>
              <a:t>步骤一</a:t>
            </a:r>
            <a:endParaRPr lang="zh-CN" altLang="en-US" sz="2800" b="1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877800" y="7752080"/>
            <a:ext cx="6096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b="1">
                <a:solidFill>
                  <a:schemeClr val="bg1"/>
                </a:solidFill>
              </a:rPr>
              <a:t>步骤二</a:t>
            </a:r>
            <a:endParaRPr lang="zh-CN" altLang="en-US" sz="4800" b="1">
              <a:solidFill>
                <a:schemeClr val="bg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04800" y="2324100"/>
            <a:ext cx="16699865" cy="7279005"/>
          </a:xfrm>
          <a:prstGeom prst="rect">
            <a:avLst/>
          </a:prstGeom>
        </p:spPr>
        <p:txBody>
          <a:bodyPr wrap="square">
            <a:noAutofit/>
          </a:bodyPr>
          <a:p>
            <a:pPr marL="1676400" indent="-279400" algn="just" defTabSz="266700" fontAlgn="auto">
              <a:lnSpc>
                <a:spcPct val="150000"/>
              </a:lnSpc>
              <a:buFont typeface="Wingdings" panose="05000000000000000000"/>
              <a:buChar char=""/>
            </a:pP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将冰洲石放置在文字或者图像上面，可见双像（照片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1.1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676400" indent="-279400" algn="just" defTabSz="266700" fontAlgn="auto">
              <a:lnSpc>
                <a:spcPct val="150000"/>
              </a:lnSpc>
              <a:buFont typeface="Wingdings" panose="05000000000000000000"/>
              <a:buChar char=""/>
            </a:pP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旋转冰洲石，可观察双像中一个不变，另一个像围绕旋转（视频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35200" lvl="1" indent="-279400" algn="just" defTabSz="266700" fontAlgn="auto">
              <a:lnSpc>
                <a:spcPct val="150000"/>
              </a:lnSpc>
              <a:buFont typeface="Wingdings" panose="05000000000000000000"/>
              <a:buChar char=""/>
            </a:pP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将两块冰洲石重叠放置，旋转上面的冰洲石，双像强度进一步劈裂，发生强度变化（视频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2235200" lvl="1" indent="-279400" algn="just" defTabSz="266700" fontAlgn="auto">
              <a:lnSpc>
                <a:spcPct val="150000"/>
              </a:lnSpc>
              <a:buFont typeface="Wingdings" panose="05000000000000000000"/>
              <a:buChar char=""/>
            </a:pP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将一个偏振片放在一块冰洲石上面并旋转，双像交替出现（视频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）</a:t>
            </a: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1676400" indent="-279400" algn="just" defTabSz="266700" fontAlgn="auto">
              <a:lnSpc>
                <a:spcPct val="150000"/>
              </a:lnSpc>
              <a:buFont typeface="Wingdings" panose="05000000000000000000"/>
              <a:buChar char=""/>
            </a:pP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思考：对照偏振光学发展历史，把自己代入到几百年前科学家做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科研的场景中，从上述实验能得到什么信息？（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光和</a:t>
            </a:r>
            <a:r>
              <a:rPr lang="en-US" altLang="zh-CN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e</a:t>
            </a:r>
            <a:r>
              <a:rPr lang="zh-CN" altLang="en-US" sz="3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光，双折射，光的横波性）</a:t>
            </a:r>
            <a:endParaRPr lang="zh-CN" altLang="en-US" sz="3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14672" y="-135"/>
            <a:ext cx="170906" cy="3240000"/>
            <a:chOff x="0" y="0"/>
            <a:chExt cx="227875" cy="11758474"/>
          </a:xfrm>
        </p:grpSpPr>
        <p:sp>
          <p:nvSpPr>
            <p:cNvPr id="12" name="AutoShape 12"/>
            <p:cNvSpPr/>
            <p:nvPr/>
          </p:nvSpPr>
          <p:spPr>
            <a:xfrm>
              <a:off x="0" y="0"/>
              <a:ext cx="227875" cy="11758474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57208" y="1790588"/>
            <a:ext cx="156664" cy="3240000"/>
            <a:chOff x="0" y="0"/>
            <a:chExt cx="208885" cy="1175847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208885" cy="11758474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144985" y="8977630"/>
            <a:ext cx="183530" cy="1297137"/>
            <a:chOff x="0" y="0"/>
            <a:chExt cx="244706" cy="1729516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244706" cy="1729516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7678400" y="6972163"/>
            <a:ext cx="176394" cy="3302648"/>
            <a:chOff x="0" y="0"/>
            <a:chExt cx="235193" cy="4403530"/>
          </a:xfrm>
        </p:grpSpPr>
        <p:sp>
          <p:nvSpPr>
            <p:cNvPr id="18" name="AutoShape 18"/>
            <p:cNvSpPr/>
            <p:nvPr/>
          </p:nvSpPr>
          <p:spPr>
            <a:xfrm>
              <a:off x="0" y="0"/>
              <a:ext cx="235193" cy="4403530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sp>
        <p:nvSpPr>
          <p:cNvPr id="31" name="TextBox 10"/>
          <p:cNvSpPr txBox="1"/>
          <p:nvPr/>
        </p:nvSpPr>
        <p:spPr>
          <a:xfrm>
            <a:off x="1266825" y="-1905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二、偏振的</a:t>
            </a: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测量</a:t>
            </a:r>
            <a:endParaRPr lang="zh-CN" altLang="en-US" sz="7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291705" y="6057900"/>
            <a:ext cx="6096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chemeClr val="bg1"/>
                </a:solidFill>
              </a:rPr>
              <a:t>步骤一</a:t>
            </a:r>
            <a:endParaRPr lang="zh-CN" altLang="en-US" sz="2800" b="1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877800" y="7752080"/>
            <a:ext cx="6096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b="1">
                <a:solidFill>
                  <a:schemeClr val="bg1"/>
                </a:solidFill>
              </a:rPr>
              <a:t>步骤二</a:t>
            </a:r>
            <a:endParaRPr lang="zh-CN" altLang="en-US" sz="4800" b="1">
              <a:solidFill>
                <a:schemeClr val="bg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609600" y="2705100"/>
                <a:ext cx="13592810" cy="510222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p>
                <a:pPr marL="1676400" indent="-279400" algn="just" defTabSz="266700" fontAlgn="auto">
                  <a:lnSpc>
                    <a:spcPct val="150000"/>
                  </a:lnSpc>
                  <a:buFont typeface="Wingdings" panose="05000000000000000000"/>
                  <a:buChar char=""/>
                </a:pPr>
                <a:r>
                  <a:rPr lang="zh-CN" altLang="en-US" sz="3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线偏振的表达和测量：</a:t>
                </a:r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397000" indent="0" algn="just" defTabSz="266700" fontAlgn="auto">
                  <a:lnSpc>
                    <a:spcPct val="150000"/>
                  </a:lnSpc>
                  <a:buFont typeface="Wingdings" panose="05000000000000000000"/>
                  <a:buNone/>
                </a:pPr>
                <a:r>
                  <a:rPr lang="zh-CN" altLang="en-US" sz="3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马吕斯定律</a:t>
                </a:r>
                <a:r>
                  <a:rPr lang="en-US" altLang="zh-CN" sz="3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3600" i="1">
                        <a:latin typeface="Cambria Math" panose="02040503050406030204" charset="0"/>
                        <a:cs typeface="Cambria Math" panose="02040503050406030204" charset="0"/>
                      </a:rPr>
                      <m:t>𝐼</m:t>
                    </m:r>
                    <m:r>
                      <a:rPr lang="en-US" altLang="zh-CN" sz="3600" i="1"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𝐼</m:t>
                        </m:r>
                      </m:e>
                      <m:sub>
                        <m:r>
                          <a:rPr lang="en-US" altLang="zh-CN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0</m:t>
                        </m:r>
                      </m:sub>
                    </m:sSub>
                    <m:sSup>
                      <m:sSupPr>
                        <m:ctrlPr>
                          <a:rPr lang="en-US" altLang="zh-CN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pPr>
                      <m:e>
                        <m:r>
                          <a:rPr lang="en-US" altLang="zh-CN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𝑐𝑜𝑠</m:t>
                        </m:r>
                      </m:e>
                      <m:sup>
                        <m:r>
                          <a:rPr lang="en-US" altLang="zh-CN" sz="3600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2</m:t>
                        </m:r>
                      </m:sup>
                    </m:sSup>
                    <m:r>
                      <a:rPr lang="en-US" altLang="zh-CN" sz="3600" i="1">
                        <a:latin typeface="Cambria Math" panose="02040503050406030204" charset="0"/>
                        <a:cs typeface="Cambria Math" panose="02040503050406030204" charset="0"/>
                      </a:rPr>
                      <m:t>𝑎</m:t>
                    </m:r>
                  </m:oMath>
                </a14:m>
                <a:endParaRPr lang="en-US" altLang="zh-CN" sz="3600" i="1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1397000" indent="0" algn="just" defTabSz="266700" fontAlgn="auto">
                  <a:lnSpc>
                    <a:spcPct val="150000"/>
                  </a:lnSpc>
                  <a:buFont typeface="Wingdings" panose="05000000000000000000"/>
                  <a:buNone/>
                </a:pPr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1676400" indent="-279400" algn="just" defTabSz="266700" fontAlgn="auto">
                  <a:lnSpc>
                    <a:spcPct val="150000"/>
                  </a:lnSpc>
                  <a:buFont typeface="Wingdings" panose="05000000000000000000"/>
                  <a:buChar char=""/>
                </a:pPr>
                <a:r>
                  <a:rPr lang="zh-CN" altLang="en-US" sz="3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一般偏振的表达和测量：</a:t>
                </a:r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235200" lvl="1" indent="-279400" algn="just" defTabSz="266700" fontAlgn="auto">
                  <a:lnSpc>
                    <a:spcPct val="150000"/>
                  </a:lnSpc>
                  <a:buFont typeface="Wingdings" panose="05000000000000000000"/>
                  <a:buChar char=""/>
                </a:pPr>
                <a:r>
                  <a:rPr lang="zh-CN" altLang="en-US" sz="3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利用波片和偏振片测量偏振分量</a:t>
                </a:r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 marL="2235200" lvl="1" indent="-279400" algn="just" defTabSz="266700" fontAlgn="auto">
                  <a:lnSpc>
                    <a:spcPct val="150000"/>
                  </a:lnSpc>
                  <a:buFont typeface="Wingdings" panose="05000000000000000000"/>
                  <a:buChar char=""/>
                </a:pPr>
                <a:r>
                  <a:rPr lang="zh-CN" altLang="en-US" sz="3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邦加球</a:t>
                </a:r>
                <a:r>
                  <a:rPr lang="zh-CN" altLang="en-US" sz="3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表达（视频</a:t>
                </a:r>
                <a:r>
                  <a:rPr lang="en-US" altLang="zh-CN" sz="3600"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+mn-ea"/>
                  </a:rPr>
                  <a:t>1.</a:t>
                </a:r>
                <a:r>
                  <a:rPr lang="en-US" altLang="zh-CN" sz="3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  <a:r>
                  <a:rPr lang="zh-CN" altLang="en-US" sz="360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）</a:t>
                </a:r>
                <a:endParaRPr lang="zh-CN" altLang="en-US" sz="360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2705100"/>
                <a:ext cx="13592810" cy="510222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/>
          <p:nvPr/>
        </p:nvPicPr>
        <p:blipFill>
          <a:blip r:embed="rId2"/>
          <a:stretch>
            <a:fillRect/>
          </a:stretch>
        </p:blipFill>
        <p:spPr>
          <a:xfrm>
            <a:off x="8077200" y="2171700"/>
            <a:ext cx="5539105" cy="2879090"/>
          </a:xfrm>
          <a:prstGeom prst="rect">
            <a:avLst/>
          </a:prstGeom>
        </p:spPr>
      </p:pic>
      <p:grpSp>
        <p:nvGrpSpPr>
          <p:cNvPr id="19" name="组合 18"/>
          <p:cNvGrpSpPr/>
          <p:nvPr/>
        </p:nvGrpSpPr>
        <p:grpSpPr>
          <a:xfrm>
            <a:off x="9906000" y="5372100"/>
            <a:ext cx="6121400" cy="3662680"/>
            <a:chOff x="15600" y="8460"/>
            <a:chExt cx="9640" cy="5768"/>
          </a:xfrm>
        </p:grpSpPr>
        <p:pic>
          <p:nvPicPr>
            <p:cNvPr id="7" name="图片 6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15600" y="8460"/>
              <a:ext cx="9641" cy="5769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22680" y="13260"/>
              <a:ext cx="2520" cy="9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14672" y="-135"/>
            <a:ext cx="170906" cy="3240000"/>
            <a:chOff x="0" y="0"/>
            <a:chExt cx="227875" cy="11758474"/>
          </a:xfrm>
        </p:grpSpPr>
        <p:sp>
          <p:nvSpPr>
            <p:cNvPr id="12" name="AutoShape 12"/>
            <p:cNvSpPr/>
            <p:nvPr/>
          </p:nvSpPr>
          <p:spPr>
            <a:xfrm>
              <a:off x="0" y="0"/>
              <a:ext cx="227875" cy="11758474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57208" y="1790588"/>
            <a:ext cx="156664" cy="3240000"/>
            <a:chOff x="0" y="0"/>
            <a:chExt cx="208885" cy="1175847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208885" cy="11758474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144985" y="8977630"/>
            <a:ext cx="183530" cy="1297137"/>
            <a:chOff x="0" y="0"/>
            <a:chExt cx="244706" cy="1729516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244706" cy="1729516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7678400" y="6972163"/>
            <a:ext cx="176394" cy="3302648"/>
            <a:chOff x="0" y="0"/>
            <a:chExt cx="235193" cy="4403530"/>
          </a:xfrm>
        </p:grpSpPr>
        <p:sp>
          <p:nvSpPr>
            <p:cNvPr id="18" name="AutoShape 18"/>
            <p:cNvSpPr/>
            <p:nvPr/>
          </p:nvSpPr>
          <p:spPr>
            <a:xfrm>
              <a:off x="0" y="0"/>
              <a:ext cx="235193" cy="4403530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sp>
        <p:nvSpPr>
          <p:cNvPr id="31" name="TextBox 10"/>
          <p:cNvSpPr txBox="1"/>
          <p:nvPr/>
        </p:nvSpPr>
        <p:spPr>
          <a:xfrm>
            <a:off x="1266825" y="-1905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三、折射率椭球</a:t>
            </a:r>
            <a:endParaRPr lang="zh-CN" altLang="en-US" sz="7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877800" y="7752080"/>
            <a:ext cx="6096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b="1">
                <a:solidFill>
                  <a:schemeClr val="bg1"/>
                </a:solidFill>
              </a:rPr>
              <a:t>步骤二</a:t>
            </a:r>
            <a:endParaRPr lang="zh-CN" altLang="en-US" sz="4800" b="1">
              <a:solidFill>
                <a:schemeClr val="bg1"/>
              </a:solidFill>
            </a:endParaRPr>
          </a:p>
        </p:txBody>
      </p:sp>
      <p:grpSp>
        <p:nvGrpSpPr>
          <p:cNvPr id="4098" name="Group 2"/>
          <p:cNvGrpSpPr/>
          <p:nvPr/>
        </p:nvGrpSpPr>
        <p:grpSpPr>
          <a:xfrm>
            <a:off x="2590800" y="2655570"/>
            <a:ext cx="12453939" cy="1617664"/>
            <a:chOff x="-202" y="432"/>
            <a:chExt cx="7845" cy="1019"/>
          </a:xfrm>
        </p:grpSpPr>
        <p:sp>
          <p:nvSpPr>
            <p:cNvPr id="4163" name="Rectangle 3"/>
            <p:cNvSpPr/>
            <p:nvPr/>
          </p:nvSpPr>
          <p:spPr>
            <a:xfrm>
              <a:off x="-202" y="463"/>
              <a:ext cx="7845" cy="98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p>
              <a:pPr algn="l" eaLnBrk="0" hangingPunct="0">
                <a:buBlip>
                  <a:blip r:embed="rId1"/>
                </a:buBlip>
              </a:pPr>
              <a:r>
                <a:rPr lang="zh-CN" altLang="en-US" sz="2800" b="1" dirty="0">
                  <a:latin typeface="宋体" panose="02010600030101010101" pitchFamily="2" charset="-122"/>
                </a:rPr>
                <a:t> </a:t>
              </a:r>
              <a:r>
                <a:rPr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寻常光线（</a:t>
              </a:r>
              <a:r>
                <a:rPr lang="en-US" altLang="zh-CN" sz="3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o</a:t>
              </a:r>
              <a:r>
                <a:rPr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光）</a:t>
              </a:r>
              <a:r>
                <a:rPr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(</a:t>
              </a:r>
              <a:r>
                <a:rPr lang="en-US" altLang="zh-CN" sz="3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ordinary rays)——</a:t>
              </a:r>
              <a:r>
                <a:rPr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服从折射定律的光线</a:t>
              </a:r>
              <a:endPara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endParaRPr>
            </a:p>
            <a:p>
              <a:pPr indent="0" algn="l" eaLnBrk="0" hangingPunct="0">
                <a:buNone/>
              </a:pPr>
              <a:endParaRPr lang="zh-CN" altLang="en-US" sz="3200" b="1" dirty="0">
                <a:latin typeface="宋体" panose="02010600030101010101" pitchFamily="2" charset="-122"/>
                <a:sym typeface="+mn-ea"/>
              </a:endParaRPr>
            </a:p>
            <a:p>
              <a:pPr algn="l" eaLnBrk="0" hangingPunct="0">
                <a:buBlip>
                  <a:blip r:embed="rId1"/>
                </a:buBlip>
              </a:pPr>
              <a:r>
                <a:rPr lang="en-US" altLang="zh-CN" sz="3200" b="1" dirty="0">
                  <a:latin typeface="宋体" panose="02010600030101010101" pitchFamily="2" charset="-122"/>
                  <a:sym typeface="+mn-ea"/>
                </a:rPr>
                <a:t> </a:t>
              </a:r>
              <a:r>
                <a:rPr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非常光线（</a:t>
              </a:r>
              <a:r>
                <a:rPr lang="en-US" altLang="zh-CN" sz="3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e</a:t>
              </a:r>
              <a:r>
                <a:rPr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光）</a:t>
              </a:r>
              <a:r>
                <a:rPr lang="zh-CN" altLang="en-US" sz="3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(</a:t>
              </a:r>
              <a:r>
                <a:rPr lang="en-US" altLang="zh-CN" sz="3200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extraordinray rays)——</a:t>
              </a:r>
              <a:r>
                <a:rPr lang="zh-CN" altLang="en-US" sz="3200" b="1" dirty="0"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+mn-ea"/>
                </a:rPr>
                <a:t>不服从折射定律的光线</a:t>
              </a:r>
              <a:endPara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164" name="Rectangle 4"/>
            <p:cNvSpPr/>
            <p:nvPr/>
          </p:nvSpPr>
          <p:spPr>
            <a:xfrm>
              <a:off x="2158" y="432"/>
              <a:ext cx="196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2075" tIns="46038" rIns="92075" bIns="46038">
              <a:spAutoFit/>
            </a:bodyPr>
            <a:p>
              <a:pPr eaLnBrk="0" hangingPunct="0"/>
              <a:endParaRPr lang="en-US" altLang="zh-CN" sz="3200" b="1" dirty="0">
                <a:latin typeface="宋体" panose="02010600030101010101" pitchFamily="2" charset="-122"/>
              </a:endParaRPr>
            </a:p>
          </p:txBody>
        </p:sp>
      </p:grpSp>
      <p:sp>
        <p:nvSpPr>
          <p:cNvPr id="4155" name="Text Box 16"/>
          <p:cNvSpPr txBox="1"/>
          <p:nvPr/>
        </p:nvSpPr>
        <p:spPr>
          <a:xfrm>
            <a:off x="2895600" y="4446905"/>
            <a:ext cx="6995160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zh-CN" altLang="en-US" sz="32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实验证明：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o 光和 e光均为偏振光.</a:t>
            </a:r>
            <a:endParaRPr lang="zh-CN" altLang="en-US" sz="3200" b="1" dirty="0">
              <a:solidFill>
                <a:srgbClr val="CC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7237" name="Group 69"/>
          <p:cNvGrpSpPr/>
          <p:nvPr/>
        </p:nvGrpSpPr>
        <p:grpSpPr>
          <a:xfrm>
            <a:off x="3505200" y="5666105"/>
            <a:ext cx="10092690" cy="3843020"/>
            <a:chOff x="432" y="2400"/>
            <a:chExt cx="4704" cy="1680"/>
          </a:xfrm>
        </p:grpSpPr>
        <p:grpSp>
          <p:nvGrpSpPr>
            <p:cNvPr id="4127" name="Group 67"/>
            <p:cNvGrpSpPr/>
            <p:nvPr/>
          </p:nvGrpSpPr>
          <p:grpSpPr>
            <a:xfrm>
              <a:off x="432" y="2400"/>
              <a:ext cx="4704" cy="1680"/>
              <a:chOff x="528" y="2400"/>
              <a:chExt cx="4704" cy="1680"/>
            </a:xfrm>
          </p:grpSpPr>
          <p:sp>
            <p:nvSpPr>
              <p:cNvPr id="4153" name="Rectangle 19"/>
              <p:cNvSpPr/>
              <p:nvPr/>
            </p:nvSpPr>
            <p:spPr>
              <a:xfrm>
                <a:off x="528" y="2400"/>
                <a:ext cx="4704" cy="1680"/>
              </a:xfrm>
              <a:prstGeom prst="rect">
                <a:avLst/>
              </a:prstGeom>
              <a:solidFill>
                <a:schemeClr val="bg1"/>
              </a:solidFill>
              <a:ln w="9525" cap="flat" cmpd="sng">
                <a:solidFill>
                  <a:srgbClr val="0066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54" name="AutoShape 42"/>
              <p:cNvSpPr/>
              <p:nvPr/>
            </p:nvSpPr>
            <p:spPr>
              <a:xfrm flipH="1">
                <a:off x="864" y="2928"/>
                <a:ext cx="1680" cy="672"/>
              </a:xfrm>
              <a:prstGeom prst="parallelogram">
                <a:avLst>
                  <a:gd name="adj" fmla="val 62487"/>
                </a:avLst>
              </a:prstGeom>
              <a:solidFill>
                <a:srgbClr val="BDFFFF">
                  <a:alpha val="50195"/>
                </a:srgbClr>
              </a:solidFill>
              <a:ln w="12700" cap="flat" cmpd="sng">
                <a:solidFill>
                  <a:srgbClr val="0066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</p:grpSp>
        <p:grpSp>
          <p:nvGrpSpPr>
            <p:cNvPr id="4128" name="Group 68"/>
            <p:cNvGrpSpPr/>
            <p:nvPr/>
          </p:nvGrpSpPr>
          <p:grpSpPr>
            <a:xfrm>
              <a:off x="754" y="2496"/>
              <a:ext cx="1886" cy="1489"/>
              <a:chOff x="754" y="2496"/>
              <a:chExt cx="1886" cy="1489"/>
            </a:xfrm>
          </p:grpSpPr>
          <p:sp>
            <p:nvSpPr>
              <p:cNvPr id="4129" name="Line 21"/>
              <p:cNvSpPr/>
              <p:nvPr/>
            </p:nvSpPr>
            <p:spPr>
              <a:xfrm>
                <a:off x="1505" y="2943"/>
                <a:ext cx="274" cy="67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130" name="Line 22"/>
              <p:cNvSpPr/>
              <p:nvPr/>
            </p:nvSpPr>
            <p:spPr>
              <a:xfrm>
                <a:off x="1505" y="2943"/>
                <a:ext cx="626" cy="670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131" name="Line 23"/>
              <p:cNvSpPr/>
              <p:nvPr/>
            </p:nvSpPr>
            <p:spPr>
              <a:xfrm>
                <a:off x="1779" y="3613"/>
                <a:ext cx="548" cy="372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sm" len="sm"/>
                <a:tailEnd type="triangle" w="sm" len="lg"/>
              </a:ln>
            </p:spPr>
          </p:sp>
          <p:sp>
            <p:nvSpPr>
              <p:cNvPr id="4132" name="Line 24"/>
              <p:cNvSpPr/>
              <p:nvPr/>
            </p:nvSpPr>
            <p:spPr>
              <a:xfrm>
                <a:off x="2131" y="3613"/>
                <a:ext cx="509" cy="335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sm" len="sm"/>
                <a:tailEnd type="triangle" w="sm" len="lg"/>
              </a:ln>
            </p:spPr>
          </p:sp>
          <p:sp>
            <p:nvSpPr>
              <p:cNvPr id="4133" name="Line 25"/>
              <p:cNvSpPr/>
              <p:nvPr/>
            </p:nvSpPr>
            <p:spPr>
              <a:xfrm>
                <a:off x="997" y="2608"/>
                <a:ext cx="508" cy="335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sm" len="sm"/>
                <a:tailEnd type="triangle" w="sm" len="lg"/>
              </a:ln>
            </p:spPr>
          </p:sp>
          <p:sp>
            <p:nvSpPr>
              <p:cNvPr id="4134" name="Line 26"/>
              <p:cNvSpPr/>
              <p:nvPr/>
            </p:nvSpPr>
            <p:spPr>
              <a:xfrm>
                <a:off x="1488" y="2544"/>
                <a:ext cx="9" cy="720"/>
              </a:xfrm>
              <a:prstGeom prst="line">
                <a:avLst/>
              </a:prstGeom>
              <a:ln w="19050" cap="flat" cmpd="sng">
                <a:solidFill>
                  <a:schemeClr val="tx1"/>
                </a:solidFill>
                <a:prstDash val="dash"/>
                <a:headEnd type="none" w="sm" len="sm"/>
                <a:tailEnd type="none" w="sm" len="sm"/>
              </a:ln>
            </p:spPr>
          </p:sp>
          <p:sp>
            <p:nvSpPr>
              <p:cNvPr id="4135" name="Line 27"/>
              <p:cNvSpPr/>
              <p:nvPr/>
            </p:nvSpPr>
            <p:spPr>
              <a:xfrm flipV="1">
                <a:off x="1680" y="3120"/>
                <a:ext cx="96" cy="92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136" name="Line 28"/>
              <p:cNvSpPr/>
              <p:nvPr/>
            </p:nvSpPr>
            <p:spPr>
              <a:xfrm flipV="1">
                <a:off x="1799" y="3264"/>
                <a:ext cx="95" cy="94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137" name="Line 29"/>
              <p:cNvSpPr/>
              <p:nvPr/>
            </p:nvSpPr>
            <p:spPr>
              <a:xfrm flipV="1">
                <a:off x="1894" y="3360"/>
                <a:ext cx="95" cy="92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138" name="Line 30"/>
              <p:cNvSpPr/>
              <p:nvPr/>
            </p:nvSpPr>
            <p:spPr>
              <a:xfrm flipV="1">
                <a:off x="1969" y="3459"/>
                <a:ext cx="95" cy="93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139" name="Line 31"/>
              <p:cNvSpPr/>
              <p:nvPr/>
            </p:nvSpPr>
            <p:spPr>
              <a:xfrm flipV="1">
                <a:off x="2194" y="3648"/>
                <a:ext cx="110" cy="96"/>
              </a:xfrm>
              <a:prstGeom prst="line">
                <a:avLst/>
              </a:prstGeom>
              <a:ln w="19050" cap="flat" cmpd="sng">
                <a:solidFill>
                  <a:srgbClr val="0000FF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140" name="Line 32"/>
              <p:cNvSpPr/>
              <p:nvPr/>
            </p:nvSpPr>
            <p:spPr>
              <a:xfrm flipV="1">
                <a:off x="2284" y="3696"/>
                <a:ext cx="116" cy="9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141" name="Line 33"/>
              <p:cNvSpPr/>
              <p:nvPr/>
            </p:nvSpPr>
            <p:spPr>
              <a:xfrm flipV="1">
                <a:off x="2352" y="3744"/>
                <a:ext cx="110" cy="96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sm" len="sm"/>
                <a:tailEnd type="none" w="sm" len="sm"/>
              </a:ln>
            </p:spPr>
          </p:sp>
          <p:sp>
            <p:nvSpPr>
              <p:cNvPr id="4142" name="Rectangle 34"/>
              <p:cNvSpPr/>
              <p:nvPr/>
            </p:nvSpPr>
            <p:spPr>
              <a:xfrm>
                <a:off x="754" y="2496"/>
                <a:ext cx="268" cy="228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2075" tIns="46038" rIns="92075" bIns="46038">
                <a:spAutoFit/>
              </a:bodyPr>
              <a:p>
                <a:pPr eaLnBrk="0" hangingPunct="0"/>
                <a:r>
                  <a:rPr lang="en-US" altLang="zh-CN" sz="2800" dirty="0">
                    <a:latin typeface="Bookman Old Style" panose="02050604050505020204" pitchFamily="18" charset="0"/>
                  </a:rPr>
                  <a:t>A</a:t>
                </a:r>
                <a:endParaRPr lang="en-US" altLang="zh-CN" sz="28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4143" name="Rectangle 35"/>
              <p:cNvSpPr/>
              <p:nvPr/>
            </p:nvSpPr>
            <p:spPr>
              <a:xfrm>
                <a:off x="1536" y="3504"/>
                <a:ext cx="305" cy="2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2075" tIns="46038" rIns="92075" bIns="46038">
                <a:spAutoFit/>
              </a:bodyPr>
              <a:p>
                <a:pPr eaLnBrk="0" hangingPunct="0"/>
                <a:r>
                  <a:rPr lang="en-US" altLang="zh-CN" sz="3200" dirty="0">
                    <a:solidFill>
                      <a:srgbClr val="006600"/>
                    </a:solidFill>
                    <a:latin typeface="Bookman Old Style" panose="02050604050505020204" pitchFamily="18" charset="0"/>
                  </a:rPr>
                  <a:t>C</a:t>
                </a:r>
                <a:endParaRPr lang="en-US" altLang="zh-CN" sz="3200" dirty="0">
                  <a:solidFill>
                    <a:srgbClr val="006600"/>
                  </a:solidFill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4144" name="Rectangle 36"/>
              <p:cNvSpPr/>
              <p:nvPr/>
            </p:nvSpPr>
            <p:spPr>
              <a:xfrm>
                <a:off x="1497" y="2645"/>
                <a:ext cx="305" cy="2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2075" tIns="46038" rIns="92075" bIns="46038">
                <a:spAutoFit/>
              </a:bodyPr>
              <a:p>
                <a:pPr eaLnBrk="0" hangingPunct="0"/>
                <a:r>
                  <a:rPr lang="en-US" altLang="zh-CN" sz="3200" dirty="0">
                    <a:latin typeface="Bookman Old Style" panose="02050604050505020204" pitchFamily="18" charset="0"/>
                  </a:rPr>
                  <a:t>B</a:t>
                </a:r>
                <a:endParaRPr lang="en-US" altLang="zh-CN" sz="32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4145" name="Oval 37"/>
              <p:cNvSpPr/>
              <p:nvPr/>
            </p:nvSpPr>
            <p:spPr>
              <a:xfrm>
                <a:off x="1680" y="3456"/>
                <a:ext cx="96" cy="96"/>
              </a:xfrm>
              <a:prstGeom prst="ellipse">
                <a:avLst/>
              </a:prstGeom>
              <a:solidFill>
                <a:srgbClr val="0000FF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46" name="Oval 38"/>
              <p:cNvSpPr/>
              <p:nvPr/>
            </p:nvSpPr>
            <p:spPr>
              <a:xfrm>
                <a:off x="1536" y="3072"/>
                <a:ext cx="96" cy="96"/>
              </a:xfrm>
              <a:prstGeom prst="ellipse">
                <a:avLst/>
              </a:prstGeom>
              <a:solidFill>
                <a:srgbClr val="0000FF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47" name="Oval 39"/>
              <p:cNvSpPr/>
              <p:nvPr/>
            </p:nvSpPr>
            <p:spPr>
              <a:xfrm>
                <a:off x="1608" y="3264"/>
                <a:ext cx="96" cy="96"/>
              </a:xfrm>
              <a:prstGeom prst="ellipse">
                <a:avLst/>
              </a:prstGeom>
              <a:solidFill>
                <a:srgbClr val="0000FF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48" name="Oval 40"/>
              <p:cNvSpPr/>
              <p:nvPr/>
            </p:nvSpPr>
            <p:spPr>
              <a:xfrm>
                <a:off x="1869" y="3670"/>
                <a:ext cx="96" cy="96"/>
              </a:xfrm>
              <a:prstGeom prst="ellipse">
                <a:avLst/>
              </a:prstGeom>
              <a:solidFill>
                <a:srgbClr val="0000FF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49" name="Oval 41"/>
              <p:cNvSpPr/>
              <p:nvPr/>
            </p:nvSpPr>
            <p:spPr>
              <a:xfrm>
                <a:off x="2016" y="3770"/>
                <a:ext cx="96" cy="96"/>
              </a:xfrm>
              <a:prstGeom prst="ellipse">
                <a:avLst/>
              </a:prstGeom>
              <a:solidFill>
                <a:srgbClr val="0000FF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50" name="Rectangle 43"/>
              <p:cNvSpPr/>
              <p:nvPr/>
            </p:nvSpPr>
            <p:spPr>
              <a:xfrm>
                <a:off x="1392" y="3168"/>
                <a:ext cx="432" cy="2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>
                <a:spAutoFit/>
              </a:bodyPr>
              <a:p>
                <a:pPr eaLnBrk="0" hangingPunct="0"/>
                <a:r>
                  <a:rPr lang="en-US" altLang="zh-CN" sz="3200" b="1" dirty="0">
                    <a:latin typeface="Bookman Old Style" panose="02050604050505020204" pitchFamily="18" charset="0"/>
                  </a:rPr>
                  <a:t>o</a:t>
                </a:r>
                <a:endParaRPr lang="en-US" altLang="zh-CN" sz="3200" b="1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4151" name="Rectangle 44"/>
              <p:cNvSpPr/>
              <p:nvPr/>
            </p:nvSpPr>
            <p:spPr>
              <a:xfrm>
                <a:off x="1872" y="3072"/>
                <a:ext cx="265" cy="2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2075" tIns="46038" rIns="92075" bIns="46038">
                <a:spAutoFit/>
              </a:bodyPr>
              <a:p>
                <a:pPr eaLnBrk="0" hangingPunct="0"/>
                <a:r>
                  <a:rPr lang="en-US" altLang="zh-CN" sz="3200" b="1" dirty="0">
                    <a:latin typeface="Bookman Old Style" panose="02050604050505020204" pitchFamily="18" charset="0"/>
                  </a:rPr>
                  <a:t>e</a:t>
                </a:r>
                <a:endParaRPr lang="en-US" altLang="zh-CN" sz="3200" b="1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4152" name="Rectangle 45"/>
              <p:cNvSpPr/>
              <p:nvPr/>
            </p:nvSpPr>
            <p:spPr>
              <a:xfrm>
                <a:off x="2112" y="3312"/>
                <a:ext cx="432" cy="255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lIns="92075" tIns="46038" rIns="92075" bIns="46038">
                <a:spAutoFit/>
              </a:bodyPr>
              <a:p>
                <a:pPr eaLnBrk="0" hangingPunct="0"/>
                <a:r>
                  <a:rPr lang="en-US" altLang="zh-CN" sz="3200" dirty="0">
                    <a:solidFill>
                      <a:srgbClr val="006600"/>
                    </a:solidFill>
                    <a:latin typeface="Bookman Old Style" panose="02050604050505020204" pitchFamily="18" charset="0"/>
                  </a:rPr>
                  <a:t>D</a:t>
                </a:r>
                <a:endParaRPr lang="en-US" altLang="zh-CN" sz="3200" dirty="0">
                  <a:solidFill>
                    <a:srgbClr val="006600"/>
                  </a:solidFill>
                  <a:latin typeface="Bookman Old Style" panose="02050604050505020204" pitchFamily="18" charset="0"/>
                </a:endParaRPr>
              </a:p>
            </p:txBody>
          </p:sp>
        </p:grpSp>
      </p:grpSp>
      <p:grpSp>
        <p:nvGrpSpPr>
          <p:cNvPr id="7239" name="Group 71"/>
          <p:cNvGrpSpPr/>
          <p:nvPr/>
        </p:nvGrpSpPr>
        <p:grpSpPr>
          <a:xfrm>
            <a:off x="8153400" y="5995670"/>
            <a:ext cx="4467860" cy="3524250"/>
            <a:chOff x="3120" y="2448"/>
            <a:chExt cx="1728" cy="1632"/>
          </a:xfrm>
        </p:grpSpPr>
        <p:sp>
          <p:nvSpPr>
            <p:cNvPr id="4106" name="Line 49"/>
            <p:cNvSpPr/>
            <p:nvPr/>
          </p:nvSpPr>
          <p:spPr>
            <a:xfrm>
              <a:off x="3840" y="2448"/>
              <a:ext cx="0" cy="304"/>
            </a:xfrm>
            <a:prstGeom prst="line">
              <a:avLst/>
            </a:prstGeom>
            <a:ln w="38100" cap="flat" cmpd="sng">
              <a:solidFill>
                <a:srgbClr val="0000FF"/>
              </a:solidFill>
              <a:prstDash val="solid"/>
              <a:headEnd type="none" w="sm" len="sm"/>
              <a:tailEnd type="triangle" w="sm" len="lg"/>
            </a:ln>
          </p:spPr>
        </p:sp>
        <p:grpSp>
          <p:nvGrpSpPr>
            <p:cNvPr id="4107" name="Group 70"/>
            <p:cNvGrpSpPr/>
            <p:nvPr/>
          </p:nvGrpSpPr>
          <p:grpSpPr>
            <a:xfrm>
              <a:off x="3120" y="2545"/>
              <a:ext cx="1728" cy="1535"/>
              <a:chOff x="3120" y="2545"/>
              <a:chExt cx="1728" cy="1535"/>
            </a:xfrm>
          </p:grpSpPr>
          <p:sp>
            <p:nvSpPr>
              <p:cNvPr id="4108" name="Line 47"/>
              <p:cNvSpPr/>
              <p:nvPr/>
            </p:nvSpPr>
            <p:spPr>
              <a:xfrm>
                <a:off x="3840" y="2545"/>
                <a:ext cx="0" cy="1535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sm" len="sm"/>
                <a:tailEnd type="triangle" w="sm" len="lg"/>
              </a:ln>
            </p:spPr>
          </p:sp>
          <p:sp>
            <p:nvSpPr>
              <p:cNvPr id="4109" name="Line 48"/>
              <p:cNvSpPr/>
              <p:nvPr/>
            </p:nvSpPr>
            <p:spPr>
              <a:xfrm>
                <a:off x="3840" y="2880"/>
                <a:ext cx="288" cy="675"/>
              </a:xfrm>
              <a:prstGeom prst="line">
                <a:avLst/>
              </a:prstGeom>
              <a:ln w="38100" cap="flat" cmpd="sng">
                <a:solidFill>
                  <a:srgbClr val="0000FF"/>
                </a:solidFill>
                <a:prstDash val="solid"/>
                <a:headEnd type="none" w="sm" len="sm"/>
                <a:tailEnd type="none" w="sm" len="lg"/>
              </a:ln>
            </p:spPr>
          </p:sp>
          <p:sp>
            <p:nvSpPr>
              <p:cNvPr id="4110" name="Line 50"/>
              <p:cNvSpPr/>
              <p:nvPr/>
            </p:nvSpPr>
            <p:spPr>
              <a:xfrm flipV="1">
                <a:off x="3840" y="3022"/>
                <a:ext cx="118" cy="48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sm" len="sm"/>
                <a:tailEnd type="none" w="sm" len="lg"/>
              </a:ln>
            </p:spPr>
          </p:sp>
          <p:sp>
            <p:nvSpPr>
              <p:cNvPr id="4111" name="Line 51"/>
              <p:cNvSpPr/>
              <p:nvPr/>
            </p:nvSpPr>
            <p:spPr>
              <a:xfrm flipV="1">
                <a:off x="3888" y="3117"/>
                <a:ext cx="116" cy="49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sm" len="sm"/>
                <a:tailEnd type="none" w="sm" len="lg"/>
              </a:ln>
            </p:spPr>
          </p:sp>
          <p:sp>
            <p:nvSpPr>
              <p:cNvPr id="4112" name="Line 52"/>
              <p:cNvSpPr/>
              <p:nvPr/>
            </p:nvSpPr>
            <p:spPr>
              <a:xfrm flipV="1">
                <a:off x="3936" y="3214"/>
                <a:ext cx="118" cy="48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sm" len="sm"/>
                <a:tailEnd type="none" w="sm" len="lg"/>
              </a:ln>
            </p:spPr>
          </p:sp>
          <p:sp>
            <p:nvSpPr>
              <p:cNvPr id="4113" name="Line 53"/>
              <p:cNvSpPr/>
              <p:nvPr/>
            </p:nvSpPr>
            <p:spPr>
              <a:xfrm flipV="1">
                <a:off x="3984" y="3312"/>
                <a:ext cx="118" cy="47"/>
              </a:xfrm>
              <a:prstGeom prst="line">
                <a:avLst/>
              </a:prstGeom>
              <a:ln w="25400" cap="flat" cmpd="sng">
                <a:solidFill>
                  <a:srgbClr val="0000FF"/>
                </a:solidFill>
                <a:prstDash val="solid"/>
                <a:headEnd type="none" w="sm" len="sm"/>
                <a:tailEnd type="none" w="sm" len="lg"/>
              </a:ln>
            </p:spPr>
          </p:sp>
          <p:grpSp>
            <p:nvGrpSpPr>
              <p:cNvPr id="4114" name="Group 54"/>
              <p:cNvGrpSpPr/>
              <p:nvPr/>
            </p:nvGrpSpPr>
            <p:grpSpPr>
              <a:xfrm>
                <a:off x="4063" y="3552"/>
                <a:ext cx="161" cy="480"/>
                <a:chOff x="4293" y="3552"/>
                <a:chExt cx="161" cy="463"/>
              </a:xfrm>
            </p:grpSpPr>
            <p:sp>
              <p:nvSpPr>
                <p:cNvPr id="4123" name="Line 55"/>
                <p:cNvSpPr/>
                <p:nvPr/>
              </p:nvSpPr>
              <p:spPr>
                <a:xfrm>
                  <a:off x="4368" y="3552"/>
                  <a:ext cx="0" cy="463"/>
                </a:xfrm>
                <a:prstGeom prst="line">
                  <a:avLst/>
                </a:prstGeom>
                <a:ln w="38100" cap="flat" cmpd="sng">
                  <a:solidFill>
                    <a:srgbClr val="0000FF"/>
                  </a:solidFill>
                  <a:prstDash val="solid"/>
                  <a:headEnd type="none" w="sm" len="sm"/>
                  <a:tailEnd type="triangle" w="sm" len="lg"/>
                </a:ln>
              </p:spPr>
            </p:sp>
            <p:sp>
              <p:nvSpPr>
                <p:cNvPr id="4124" name="Line 56"/>
                <p:cNvSpPr/>
                <p:nvPr/>
              </p:nvSpPr>
              <p:spPr>
                <a:xfrm>
                  <a:off x="4293" y="3625"/>
                  <a:ext cx="161" cy="0"/>
                </a:xfrm>
                <a:prstGeom prst="line">
                  <a:avLst/>
                </a:prstGeom>
                <a:ln w="25400" cap="flat" cmpd="sng">
                  <a:solidFill>
                    <a:srgbClr val="0000FF"/>
                  </a:solidFill>
                  <a:prstDash val="solid"/>
                  <a:headEnd type="none" w="sm" len="sm"/>
                  <a:tailEnd type="none" w="sm" len="lg"/>
                </a:ln>
              </p:spPr>
            </p:sp>
            <p:sp>
              <p:nvSpPr>
                <p:cNvPr id="4125" name="Line 57"/>
                <p:cNvSpPr/>
                <p:nvPr/>
              </p:nvSpPr>
              <p:spPr>
                <a:xfrm>
                  <a:off x="4293" y="3709"/>
                  <a:ext cx="161" cy="0"/>
                </a:xfrm>
                <a:prstGeom prst="line">
                  <a:avLst/>
                </a:prstGeom>
                <a:ln w="25400" cap="flat" cmpd="sng">
                  <a:solidFill>
                    <a:srgbClr val="0000FF"/>
                  </a:solidFill>
                  <a:prstDash val="solid"/>
                  <a:headEnd type="none" w="sm" len="sm"/>
                  <a:tailEnd type="none" w="sm" len="lg"/>
                </a:ln>
              </p:spPr>
            </p:sp>
            <p:sp>
              <p:nvSpPr>
                <p:cNvPr id="4126" name="Line 58"/>
                <p:cNvSpPr/>
                <p:nvPr/>
              </p:nvSpPr>
              <p:spPr>
                <a:xfrm>
                  <a:off x="4293" y="3792"/>
                  <a:ext cx="161" cy="0"/>
                </a:xfrm>
                <a:prstGeom prst="line">
                  <a:avLst/>
                </a:prstGeom>
                <a:ln w="25400" cap="flat" cmpd="sng">
                  <a:solidFill>
                    <a:srgbClr val="0000FF"/>
                  </a:solidFill>
                  <a:prstDash val="solid"/>
                  <a:headEnd type="none" w="sm" len="sm"/>
                  <a:tailEnd type="none" w="sm" len="lg"/>
                </a:ln>
              </p:spPr>
            </p:sp>
          </p:grpSp>
          <p:sp>
            <p:nvSpPr>
              <p:cNvPr id="4115" name="Oval 59"/>
              <p:cNvSpPr/>
              <p:nvPr/>
            </p:nvSpPr>
            <p:spPr>
              <a:xfrm>
                <a:off x="3792" y="3120"/>
                <a:ext cx="96" cy="96"/>
              </a:xfrm>
              <a:prstGeom prst="ellipse">
                <a:avLst/>
              </a:prstGeom>
              <a:solidFill>
                <a:srgbClr val="0000FF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6" name="Oval 60"/>
              <p:cNvSpPr/>
              <p:nvPr/>
            </p:nvSpPr>
            <p:spPr>
              <a:xfrm>
                <a:off x="3792" y="3264"/>
                <a:ext cx="96" cy="96"/>
              </a:xfrm>
              <a:prstGeom prst="ellipse">
                <a:avLst/>
              </a:prstGeom>
              <a:solidFill>
                <a:srgbClr val="0000FF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7" name="Oval 61"/>
              <p:cNvSpPr/>
              <p:nvPr/>
            </p:nvSpPr>
            <p:spPr>
              <a:xfrm>
                <a:off x="3792" y="3408"/>
                <a:ext cx="96" cy="96"/>
              </a:xfrm>
              <a:prstGeom prst="ellipse">
                <a:avLst/>
              </a:prstGeom>
              <a:solidFill>
                <a:srgbClr val="0000FF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8" name="Oval 62"/>
              <p:cNvSpPr/>
              <p:nvPr/>
            </p:nvSpPr>
            <p:spPr>
              <a:xfrm>
                <a:off x="3792" y="3600"/>
                <a:ext cx="96" cy="96"/>
              </a:xfrm>
              <a:prstGeom prst="ellipse">
                <a:avLst/>
              </a:prstGeom>
              <a:solidFill>
                <a:srgbClr val="0000FF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19" name="Oval 63"/>
              <p:cNvSpPr/>
              <p:nvPr/>
            </p:nvSpPr>
            <p:spPr>
              <a:xfrm>
                <a:off x="3792" y="3744"/>
                <a:ext cx="96" cy="96"/>
              </a:xfrm>
              <a:prstGeom prst="ellipse">
                <a:avLst/>
              </a:prstGeom>
              <a:solidFill>
                <a:srgbClr val="0000FF"/>
              </a:solidFill>
              <a:ln w="9525">
                <a:noFill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0" name="AutoShape 64"/>
              <p:cNvSpPr/>
              <p:nvPr/>
            </p:nvSpPr>
            <p:spPr>
              <a:xfrm flipH="1">
                <a:off x="3120" y="2880"/>
                <a:ext cx="1728" cy="672"/>
              </a:xfrm>
              <a:prstGeom prst="parallelogram">
                <a:avLst>
                  <a:gd name="adj" fmla="val 64272"/>
                </a:avLst>
              </a:prstGeom>
              <a:solidFill>
                <a:srgbClr val="CDFFFF">
                  <a:alpha val="50195"/>
                </a:srgbClr>
              </a:solidFill>
              <a:ln w="12700" cap="flat" cmpd="sng">
                <a:solidFill>
                  <a:srgbClr val="006666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 anchorCtr="0"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4121" name="Rectangle 65"/>
              <p:cNvSpPr/>
              <p:nvPr/>
            </p:nvSpPr>
            <p:spPr>
              <a:xfrm>
                <a:off x="4080" y="3187"/>
                <a:ext cx="249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2075" tIns="46038" rIns="92075" bIns="46038">
                <a:spAutoFit/>
              </a:bodyPr>
              <a:p>
                <a:pPr eaLnBrk="0" hangingPunct="0"/>
                <a:r>
                  <a:rPr lang="en-US" altLang="zh-CN" sz="3200" dirty="0">
                    <a:latin typeface="Bookman Old Style" panose="02050604050505020204" pitchFamily="18" charset="0"/>
                  </a:rPr>
                  <a:t>e</a:t>
                </a:r>
                <a:endParaRPr lang="en-US" altLang="zh-CN" sz="3200" dirty="0">
                  <a:latin typeface="Bookman Old Style" panose="02050604050505020204" pitchFamily="18" charset="0"/>
                </a:endParaRPr>
              </a:p>
            </p:txBody>
          </p:sp>
          <p:sp>
            <p:nvSpPr>
              <p:cNvPr id="4122" name="Rectangle 66"/>
              <p:cNvSpPr/>
              <p:nvPr/>
            </p:nvSpPr>
            <p:spPr>
              <a:xfrm>
                <a:off x="3552" y="3216"/>
                <a:ext cx="259" cy="270"/>
              </a:xfrm>
              <a:prstGeom prst="rect">
                <a:avLst/>
              </a:prstGeom>
              <a:noFill/>
              <a:ln w="9525">
                <a:noFill/>
              </a:ln>
            </p:spPr>
            <p:txBody>
              <a:bodyPr wrap="square" lIns="92075" tIns="46038" rIns="92075" bIns="46038">
                <a:spAutoFit/>
              </a:bodyPr>
              <a:p>
                <a:pPr eaLnBrk="0" hangingPunct="0"/>
                <a:r>
                  <a:rPr lang="en-US" altLang="zh-CN" sz="3200" dirty="0">
                    <a:latin typeface="Bookman Old Style" panose="02050604050505020204" pitchFamily="18" charset="0"/>
                  </a:rPr>
                  <a:t>o</a:t>
                </a:r>
                <a:endParaRPr lang="en-US" altLang="zh-CN" sz="3200" dirty="0">
                  <a:latin typeface="Bookman Old Style" panose="02050604050505020204" pitchFamily="18" charset="0"/>
                </a:endParaRPr>
              </a:p>
            </p:txBody>
          </p:sp>
        </p:grpSp>
      </p:grpSp>
      <p:sp>
        <p:nvSpPr>
          <p:cNvPr id="2" name="TextBox 10"/>
          <p:cNvSpPr txBox="1"/>
          <p:nvPr/>
        </p:nvSpPr>
        <p:spPr>
          <a:xfrm>
            <a:off x="2133600" y="981710"/>
            <a:ext cx="10741025" cy="125412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algn="l">
              <a:lnSpc>
                <a:spcPts val="11200"/>
              </a:lnSpc>
              <a:buClrTx/>
              <a:buSzTx/>
              <a:buFontTx/>
            </a:pPr>
            <a:r>
              <a:rPr lang="en-US" altLang="zh-CN" sz="4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4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折射率椭球</a:t>
            </a:r>
            <a:r>
              <a:rPr lang="zh-CN" altLang="en-US" sz="4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  <a:endParaRPr lang="zh-CN" altLang="en-US" sz="4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7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14672" y="-135"/>
            <a:ext cx="170906" cy="3240000"/>
            <a:chOff x="0" y="0"/>
            <a:chExt cx="227875" cy="11758474"/>
          </a:xfrm>
        </p:grpSpPr>
        <p:sp>
          <p:nvSpPr>
            <p:cNvPr id="12" name="AutoShape 12"/>
            <p:cNvSpPr/>
            <p:nvPr/>
          </p:nvSpPr>
          <p:spPr>
            <a:xfrm>
              <a:off x="0" y="0"/>
              <a:ext cx="227875" cy="11758474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57208" y="1790588"/>
            <a:ext cx="156664" cy="3240000"/>
            <a:chOff x="0" y="0"/>
            <a:chExt cx="208885" cy="1175847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208885" cy="11758474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144985" y="8977630"/>
            <a:ext cx="183530" cy="1297137"/>
            <a:chOff x="0" y="0"/>
            <a:chExt cx="244706" cy="1729516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244706" cy="1729516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7678400" y="6972163"/>
            <a:ext cx="176394" cy="3302648"/>
            <a:chOff x="0" y="0"/>
            <a:chExt cx="235193" cy="4403530"/>
          </a:xfrm>
        </p:grpSpPr>
        <p:sp>
          <p:nvSpPr>
            <p:cNvPr id="18" name="AutoShape 18"/>
            <p:cNvSpPr/>
            <p:nvPr/>
          </p:nvSpPr>
          <p:spPr>
            <a:xfrm>
              <a:off x="0" y="0"/>
              <a:ext cx="235193" cy="4403530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sp>
        <p:nvSpPr>
          <p:cNvPr id="31" name="TextBox 10"/>
          <p:cNvSpPr txBox="1"/>
          <p:nvPr/>
        </p:nvSpPr>
        <p:spPr>
          <a:xfrm>
            <a:off x="1266825" y="-1905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三、折射率椭球</a:t>
            </a:r>
            <a:endParaRPr lang="zh-CN" altLang="en-US" sz="7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877800" y="7752080"/>
            <a:ext cx="609600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 b="1">
                <a:solidFill>
                  <a:schemeClr val="bg1"/>
                </a:solidFill>
              </a:rPr>
              <a:t>步骤二</a:t>
            </a:r>
            <a:endParaRPr lang="zh-CN" altLang="en-US" sz="4800" b="1">
              <a:solidFill>
                <a:schemeClr val="bg1"/>
              </a:solidFill>
            </a:endParaRPr>
          </a:p>
        </p:txBody>
      </p:sp>
      <p:graphicFrame>
        <p:nvGraphicFramePr>
          <p:cNvPr id="20" name="Object 12"/>
          <p:cNvGraphicFramePr>
            <a:graphicFrameLocks noChangeAspect="1"/>
          </p:cNvGraphicFramePr>
          <p:nvPr/>
        </p:nvGraphicFramePr>
        <p:xfrm>
          <a:off x="3657600" y="7408545"/>
          <a:ext cx="1524000" cy="1373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" name="" r:id="rId1" imgW="495300" imgH="431800" progId="Equation.3">
                  <p:embed/>
                </p:oleObj>
              </mc:Choice>
              <mc:Fallback>
                <p:oleObj name="" r:id="rId1" imgW="495300" imgH="431800" progId="Equation.3">
                  <p:embed/>
                  <p:pic>
                    <p:nvPicPr>
                      <p:cNvPr id="0" name="图片 3089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3657600" y="7408545"/>
                        <a:ext cx="1524000" cy="13731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Text Box 25"/>
          <p:cNvSpPr txBox="1"/>
          <p:nvPr/>
        </p:nvSpPr>
        <p:spPr>
          <a:xfrm>
            <a:off x="2892425" y="2959100"/>
            <a:ext cx="5695315" cy="107632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spcBef>
                <a:spcPct val="50000"/>
              </a:spcBef>
            </a:pPr>
            <a:r>
              <a:rPr lang="zh-CN" altLang="en-US" sz="2800" b="1" dirty="0">
                <a:latin typeface="宋体" panose="02010600030101010101" pitchFamily="2" charset="-122"/>
              </a:rPr>
              <a:t> 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</a:t>
            </a:r>
            <a:r>
              <a:rPr lang="zh-CN" altLang="en-US" sz="32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寻常光线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在晶体中各方向上传播速度相同.</a:t>
            </a:r>
            <a:r>
              <a:rPr lang="zh-CN" altLang="en-US" sz="2800" b="1" dirty="0">
                <a:solidFill>
                  <a:srgbClr val="CC0000"/>
                </a:solidFill>
                <a:latin typeface="宋体" panose="02010600030101010101" pitchFamily="2" charset="-122"/>
              </a:rPr>
              <a:t>    </a:t>
            </a:r>
            <a:endParaRPr lang="zh-CN" altLang="en-US" sz="2800" b="1" dirty="0">
              <a:latin typeface="宋体" panose="02010600030101010101" pitchFamily="2" charset="-122"/>
            </a:endParaRPr>
          </a:p>
        </p:txBody>
      </p:sp>
      <p:grpSp>
        <p:nvGrpSpPr>
          <p:cNvPr id="38" name="Group 26"/>
          <p:cNvGrpSpPr/>
          <p:nvPr/>
        </p:nvGrpSpPr>
        <p:grpSpPr>
          <a:xfrm>
            <a:off x="4038600" y="4076700"/>
            <a:ext cx="3048000" cy="1238250"/>
            <a:chOff x="576" y="1728"/>
            <a:chExt cx="1920" cy="780"/>
          </a:xfrm>
        </p:grpSpPr>
        <p:graphicFrame>
          <p:nvGraphicFramePr>
            <p:cNvPr id="39" name="Object 27"/>
            <p:cNvGraphicFramePr>
              <a:graphicFrameLocks noChangeAspect="1"/>
            </p:cNvGraphicFramePr>
            <p:nvPr/>
          </p:nvGraphicFramePr>
          <p:xfrm>
            <a:off x="576" y="1728"/>
            <a:ext cx="1200" cy="7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0" name="" r:id="rId3" imgW="635000" imgH="431800" progId="Equation.3">
                    <p:embed/>
                  </p:oleObj>
                </mc:Choice>
                <mc:Fallback>
                  <p:oleObj name="" r:id="rId3" imgW="635000" imgH="431800" progId="Equation.3">
                    <p:embed/>
                    <p:pic>
                      <p:nvPicPr>
                        <p:cNvPr id="0" name="图片 3095"/>
                        <p:cNvPicPr/>
                        <p:nvPr/>
                      </p:nvPicPr>
                      <p:blipFill>
                        <a:blip r:embed="rId4"/>
                        <a:stretch>
                          <a:fillRect/>
                        </a:stretch>
                      </p:blipFill>
                      <p:spPr>
                        <a:xfrm>
                          <a:off x="576" y="1728"/>
                          <a:ext cx="1200" cy="780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" name="Text Box 28"/>
            <p:cNvSpPr txBox="1"/>
            <p:nvPr/>
          </p:nvSpPr>
          <p:spPr>
            <a:xfrm>
              <a:off x="1728" y="1920"/>
              <a:ext cx="768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solidFill>
                    <a:srgbClr val="1C1C1C"/>
                  </a:solidFill>
                  <a:latin typeface="Times New Roman" panose="02020603050405020304" pitchFamily="18" charset="0"/>
                </a:rPr>
                <a:t>常量</a:t>
              </a:r>
              <a:endParaRPr lang="zh-CN" altLang="en-US" sz="3200" b="1" dirty="0">
                <a:solidFill>
                  <a:srgbClr val="1C1C1C"/>
                </a:solidFill>
                <a:latin typeface="Times New Roman" panose="02020603050405020304" pitchFamily="18" charset="0"/>
              </a:endParaRPr>
            </a:p>
          </p:txBody>
        </p:sp>
      </p:grpSp>
      <p:sp>
        <p:nvSpPr>
          <p:cNvPr id="42" name="Rectangle 29"/>
          <p:cNvSpPr/>
          <p:nvPr/>
        </p:nvSpPr>
        <p:spPr>
          <a:xfrm>
            <a:off x="3048000" y="5560695"/>
            <a:ext cx="5172710" cy="156845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eaLnBrk="0" hangingPunct="0"/>
            <a:r>
              <a:rPr lang="zh-CN" altLang="en-US" sz="3200" b="1" dirty="0">
                <a:solidFill>
                  <a:srgbClr val="CC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非常光线 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晶体中各方向上传播速度不同,随方向改变而改变.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grpSp>
        <p:nvGrpSpPr>
          <p:cNvPr id="43" name="Group 30"/>
          <p:cNvGrpSpPr/>
          <p:nvPr/>
        </p:nvGrpSpPr>
        <p:grpSpPr>
          <a:xfrm>
            <a:off x="5410200" y="7865745"/>
            <a:ext cx="2743200" cy="727075"/>
            <a:chOff x="1968" y="3600"/>
            <a:chExt cx="1728" cy="458"/>
          </a:xfrm>
        </p:grpSpPr>
        <p:sp>
          <p:nvSpPr>
            <p:cNvPr id="44" name="Text Box 31"/>
            <p:cNvSpPr txBox="1"/>
            <p:nvPr/>
          </p:nvSpPr>
          <p:spPr>
            <a:xfrm>
              <a:off x="2244" y="3683"/>
              <a:ext cx="1452" cy="368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>
                <a:spcBef>
                  <a:spcPct val="50000"/>
                </a:spcBef>
              </a:pPr>
              <a:r>
                <a:rPr lang="zh-CN" altLang="en-US" sz="3200" b="1" dirty="0">
                  <a:latin typeface="Times New Roman" panose="02020603050405020304" pitchFamily="18" charset="0"/>
                </a:rPr>
                <a:t>为主折射率</a:t>
              </a:r>
              <a:endParaRPr lang="zh-CN" altLang="en-US" sz="3200" b="1" dirty="0"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45" name="Object 32"/>
            <p:cNvGraphicFramePr>
              <a:graphicFrameLocks noChangeAspect="1"/>
            </p:cNvGraphicFramePr>
            <p:nvPr/>
          </p:nvGraphicFramePr>
          <p:xfrm>
            <a:off x="1968" y="3600"/>
            <a:ext cx="320" cy="45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46" name="" r:id="rId5" imgW="165100" imgH="228600" progId="Equation.3">
                    <p:embed/>
                  </p:oleObj>
                </mc:Choice>
                <mc:Fallback>
                  <p:oleObj name="" r:id="rId5" imgW="165100" imgH="228600" progId="Equation.3">
                    <p:embed/>
                    <p:pic>
                      <p:nvPicPr>
                        <p:cNvPr id="0" name="图片 3094"/>
                        <p:cNvPicPr/>
                        <p:nvPr/>
                      </p:nvPicPr>
                      <p:blipFill>
                        <a:blip r:embed="rId6"/>
                        <a:stretch>
                          <a:fillRect/>
                        </a:stretch>
                      </p:blipFill>
                      <p:spPr>
                        <a:xfrm>
                          <a:off x="1968" y="3600"/>
                          <a:ext cx="320" cy="45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47" name="图片 4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91600" y="2444115"/>
            <a:ext cx="7044055" cy="6533515"/>
          </a:xfrm>
          <a:prstGeom prst="rect">
            <a:avLst/>
          </a:prstGeom>
        </p:spPr>
      </p:pic>
      <p:sp>
        <p:nvSpPr>
          <p:cNvPr id="2" name="TextBox 10"/>
          <p:cNvSpPr txBox="1"/>
          <p:nvPr/>
        </p:nvSpPr>
        <p:spPr>
          <a:xfrm>
            <a:off x="2133600" y="981710"/>
            <a:ext cx="10741025" cy="125412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algn="l">
              <a:lnSpc>
                <a:spcPts val="11200"/>
              </a:lnSpc>
              <a:buClrTx/>
              <a:buSzTx/>
              <a:buFontTx/>
            </a:pPr>
            <a:r>
              <a:rPr lang="en-US" altLang="zh-CN" sz="4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4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折射率椭球</a:t>
            </a:r>
            <a:r>
              <a:rPr lang="zh-CN" altLang="en-US" sz="4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  <a:endParaRPr lang="zh-CN" altLang="en-US" sz="4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/>
      <p:bldP spid="4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14672" y="-135"/>
            <a:ext cx="170906" cy="3240000"/>
            <a:chOff x="0" y="0"/>
            <a:chExt cx="227875" cy="11758474"/>
          </a:xfrm>
        </p:grpSpPr>
        <p:sp>
          <p:nvSpPr>
            <p:cNvPr id="12" name="AutoShape 12"/>
            <p:cNvSpPr/>
            <p:nvPr/>
          </p:nvSpPr>
          <p:spPr>
            <a:xfrm>
              <a:off x="0" y="0"/>
              <a:ext cx="227875" cy="11758474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57208" y="1790588"/>
            <a:ext cx="156664" cy="3240000"/>
            <a:chOff x="0" y="0"/>
            <a:chExt cx="208885" cy="1175847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208885" cy="11758474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144985" y="8977630"/>
            <a:ext cx="183530" cy="1297137"/>
            <a:chOff x="0" y="0"/>
            <a:chExt cx="244706" cy="1729516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244706" cy="1729516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7678400" y="6972163"/>
            <a:ext cx="176394" cy="3302648"/>
            <a:chOff x="0" y="0"/>
            <a:chExt cx="235193" cy="4403530"/>
          </a:xfrm>
        </p:grpSpPr>
        <p:sp>
          <p:nvSpPr>
            <p:cNvPr id="18" name="AutoShape 18"/>
            <p:cNvSpPr/>
            <p:nvPr/>
          </p:nvSpPr>
          <p:spPr>
            <a:xfrm>
              <a:off x="0" y="0"/>
              <a:ext cx="235193" cy="4403530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grpSp>
        <p:nvGrpSpPr>
          <p:cNvPr id="6146" name="Group 51"/>
          <p:cNvGrpSpPr/>
          <p:nvPr>
            <p:custDataLst>
              <p:tags r:id="rId1"/>
            </p:custDataLst>
          </p:nvPr>
        </p:nvGrpSpPr>
        <p:grpSpPr>
          <a:xfrm>
            <a:off x="2286000" y="2552700"/>
            <a:ext cx="5651500" cy="2251075"/>
            <a:chOff x="192" y="480"/>
            <a:chExt cx="3560" cy="1418"/>
          </a:xfrm>
        </p:grpSpPr>
        <p:sp>
          <p:nvSpPr>
            <p:cNvPr id="6174" name="Text Box 3"/>
            <p:cNvSpPr txBox="1"/>
            <p:nvPr>
              <p:custDataLst>
                <p:tags r:id="rId2"/>
              </p:custDataLst>
            </p:nvPr>
          </p:nvSpPr>
          <p:spPr>
            <a:xfrm>
              <a:off x="192" y="480"/>
              <a:ext cx="3560" cy="1418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>
                <a:lnSpc>
                  <a:spcPct val="130000"/>
                </a:lnSpc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     </a:t>
              </a:r>
              <a:r>
                <a:rPr lang="zh-CN" altLang="en-US" sz="36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正晶体：</a:t>
              </a:r>
              <a:r>
                <a:rPr lang="zh-CN" altLang="en-US" sz="3600" b="1" dirty="0">
                  <a:solidFill>
                    <a:srgbClr val="1C1C1C"/>
                  </a:solidFill>
                  <a:latin typeface="宋体" panose="02010600030101010101" pitchFamily="2" charset="-122"/>
                </a:rPr>
                <a:t>       的晶体其 </a:t>
              </a:r>
              <a:r>
                <a:rPr lang="en-US" altLang="zh-CN" sz="3600" b="1" dirty="0">
                  <a:solidFill>
                    <a:srgbClr val="1C1C1C"/>
                  </a:solidFill>
                  <a:latin typeface="宋体" panose="02010600030101010101" pitchFamily="2" charset="-122"/>
                </a:rPr>
                <a:t>e</a:t>
              </a:r>
              <a:r>
                <a:rPr lang="zh-CN" altLang="en-US" sz="3600" b="1" dirty="0">
                  <a:solidFill>
                    <a:srgbClr val="1C1C1C"/>
                  </a:solidFill>
                  <a:latin typeface="宋体" panose="02010600030101010101" pitchFamily="2" charset="-122"/>
                </a:rPr>
                <a:t>光波阵面椭球的长轴与光轴方向平行.</a:t>
              </a:r>
              <a:endParaRPr lang="zh-CN" altLang="en-US" sz="3600" b="1" dirty="0">
                <a:solidFill>
                  <a:srgbClr val="1C1C1C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6175" name="Object 4"/>
            <p:cNvGraphicFramePr>
              <a:graphicFrameLocks noChangeAspect="1"/>
            </p:cNvGraphicFramePr>
            <p:nvPr>
              <p:custDataLst>
                <p:tags r:id="rId3"/>
              </p:custDataLst>
            </p:nvPr>
          </p:nvGraphicFramePr>
          <p:xfrm>
            <a:off x="1968" y="576"/>
            <a:ext cx="912" cy="3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3" name="" r:id="rId4" imgW="1091565" imgH="482600" progId="Equation.3">
                    <p:embed/>
                  </p:oleObj>
                </mc:Choice>
                <mc:Fallback>
                  <p:oleObj name="" r:id="rId4" imgW="1091565" imgH="482600" progId="Equation.3">
                    <p:embed/>
                    <p:pic>
                      <p:nvPicPr>
                        <p:cNvPr id="0" name="图片 3092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1968" y="576"/>
                          <a:ext cx="912" cy="386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147" name="Group 50"/>
          <p:cNvGrpSpPr/>
          <p:nvPr>
            <p:custDataLst>
              <p:tags r:id="rId6"/>
            </p:custDataLst>
          </p:nvPr>
        </p:nvGrpSpPr>
        <p:grpSpPr>
          <a:xfrm>
            <a:off x="2286000" y="5395913"/>
            <a:ext cx="5781675" cy="2159000"/>
            <a:chOff x="192" y="2352"/>
            <a:chExt cx="3642" cy="1360"/>
          </a:xfrm>
        </p:grpSpPr>
        <p:sp>
          <p:nvSpPr>
            <p:cNvPr id="6172" name="Text Box 8"/>
            <p:cNvSpPr txBox="1"/>
            <p:nvPr>
              <p:custDataLst>
                <p:tags r:id="rId7"/>
              </p:custDataLst>
            </p:nvPr>
          </p:nvSpPr>
          <p:spPr>
            <a:xfrm>
              <a:off x="192" y="2352"/>
              <a:ext cx="3642" cy="136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square">
              <a:spAutoFit/>
            </a:bodyPr>
            <a:p>
              <a:pPr>
                <a:lnSpc>
                  <a:spcPct val="120000"/>
                </a:lnSpc>
                <a:spcBef>
                  <a:spcPct val="50000"/>
                </a:spcBef>
              </a:pPr>
              <a:r>
                <a:rPr lang="zh-CN" altLang="en-US" sz="28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  </a:t>
              </a:r>
              <a:r>
                <a:rPr lang="en-US" altLang="zh-CN" sz="28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 </a:t>
              </a:r>
              <a:r>
                <a:rPr lang="zh-CN" altLang="en-US" sz="3600" b="1" dirty="0">
                  <a:solidFill>
                    <a:srgbClr val="CC0000"/>
                  </a:solidFill>
                  <a:latin typeface="宋体" panose="02010600030101010101" pitchFamily="2" charset="-122"/>
                </a:rPr>
                <a:t> 负晶体:</a:t>
              </a:r>
              <a:r>
                <a:rPr lang="zh-CN" altLang="en-US" sz="3600" b="1" dirty="0">
                  <a:solidFill>
                    <a:srgbClr val="1C1C1C"/>
                  </a:solidFill>
                  <a:latin typeface="宋体" panose="02010600030101010101" pitchFamily="2" charset="-122"/>
                </a:rPr>
                <a:t>         的晶体,其 </a:t>
              </a:r>
              <a:r>
                <a:rPr lang="en-US" altLang="zh-CN" sz="4000" b="1" dirty="0">
                  <a:solidFill>
                    <a:srgbClr val="1C1C1C"/>
                  </a:solidFill>
                  <a:latin typeface="宋体" panose="02010600030101010101" pitchFamily="2" charset="-122"/>
                </a:rPr>
                <a:t>e </a:t>
              </a:r>
              <a:r>
                <a:rPr lang="zh-CN" altLang="en-US" sz="3600" b="1" dirty="0">
                  <a:solidFill>
                    <a:srgbClr val="1C1C1C"/>
                  </a:solidFill>
                  <a:latin typeface="宋体" panose="02010600030101010101" pitchFamily="2" charset="-122"/>
                </a:rPr>
                <a:t>光波阵面椭球的短轴与光轴方向平行.</a:t>
              </a:r>
              <a:endParaRPr lang="zh-CN" altLang="en-US" sz="3600" b="1" dirty="0">
                <a:solidFill>
                  <a:srgbClr val="1C1C1C"/>
                </a:solidFill>
                <a:latin typeface="宋体" panose="02010600030101010101" pitchFamily="2" charset="-122"/>
              </a:endParaRPr>
            </a:p>
          </p:txBody>
        </p:sp>
        <p:graphicFrame>
          <p:nvGraphicFramePr>
            <p:cNvPr id="6173" name="Object 9"/>
            <p:cNvGraphicFramePr>
              <a:graphicFrameLocks noChangeAspect="1"/>
            </p:cNvGraphicFramePr>
            <p:nvPr>
              <p:custDataLst>
                <p:tags r:id="rId8"/>
              </p:custDataLst>
            </p:nvPr>
          </p:nvGraphicFramePr>
          <p:xfrm>
            <a:off x="1920" y="2385"/>
            <a:ext cx="960" cy="4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97" name="" r:id="rId9" imgW="965200" imgH="431800" progId="Equation.3">
                    <p:embed/>
                  </p:oleObj>
                </mc:Choice>
                <mc:Fallback>
                  <p:oleObj name="" r:id="rId9" imgW="965200" imgH="431800" progId="Equation.3">
                    <p:embed/>
                    <p:pic>
                      <p:nvPicPr>
                        <p:cNvPr id="0" name="图片 3096"/>
                        <p:cNvPicPr/>
                        <p:nvPr/>
                      </p:nvPicPr>
                      <p:blipFill>
                        <a:blip r:embed="rId10"/>
                        <a:stretch>
                          <a:fillRect/>
                        </a:stretch>
                      </p:blipFill>
                      <p:spPr>
                        <a:xfrm>
                          <a:off x="1920" y="2385"/>
                          <a:ext cx="960" cy="428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96400" y="1028700"/>
            <a:ext cx="5480050" cy="8347710"/>
          </a:xfrm>
          <a:prstGeom prst="rect">
            <a:avLst/>
          </a:prstGeom>
        </p:spPr>
      </p:pic>
      <p:sp>
        <p:nvSpPr>
          <p:cNvPr id="4" name="TextBox 10"/>
          <p:cNvSpPr txBox="1"/>
          <p:nvPr/>
        </p:nvSpPr>
        <p:spPr>
          <a:xfrm>
            <a:off x="1266825" y="-1905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三、折射率椭球</a:t>
            </a:r>
            <a:endParaRPr lang="zh-CN" altLang="en-US" sz="7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10"/>
          <p:cNvSpPr txBox="1"/>
          <p:nvPr/>
        </p:nvSpPr>
        <p:spPr>
          <a:xfrm>
            <a:off x="2133600" y="981710"/>
            <a:ext cx="10741025" cy="125412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algn="l">
              <a:lnSpc>
                <a:spcPts val="11200"/>
              </a:lnSpc>
              <a:buClrTx/>
              <a:buSzTx/>
              <a:buFontTx/>
            </a:pPr>
            <a:r>
              <a:rPr lang="en-US" altLang="zh-CN" sz="4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4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折射率椭球</a:t>
            </a:r>
            <a:r>
              <a:rPr lang="zh-CN" altLang="en-US" sz="4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概念</a:t>
            </a:r>
            <a:endParaRPr lang="zh-CN" altLang="en-US" sz="4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14672" y="-135"/>
            <a:ext cx="170906" cy="3240000"/>
            <a:chOff x="0" y="0"/>
            <a:chExt cx="227875" cy="11758474"/>
          </a:xfrm>
        </p:grpSpPr>
        <p:sp>
          <p:nvSpPr>
            <p:cNvPr id="12" name="AutoShape 12"/>
            <p:cNvSpPr/>
            <p:nvPr/>
          </p:nvSpPr>
          <p:spPr>
            <a:xfrm>
              <a:off x="0" y="0"/>
              <a:ext cx="227875" cy="11758474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57208" y="1790588"/>
            <a:ext cx="156664" cy="3240000"/>
            <a:chOff x="0" y="0"/>
            <a:chExt cx="208885" cy="1175847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208885" cy="11758474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144985" y="8977630"/>
            <a:ext cx="183530" cy="1297137"/>
            <a:chOff x="0" y="0"/>
            <a:chExt cx="244706" cy="1729516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244706" cy="1729516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7678400" y="6972163"/>
            <a:ext cx="176394" cy="3302648"/>
            <a:chOff x="0" y="0"/>
            <a:chExt cx="235193" cy="4403530"/>
          </a:xfrm>
        </p:grpSpPr>
        <p:sp>
          <p:nvSpPr>
            <p:cNvPr id="18" name="AutoShape 18"/>
            <p:cNvSpPr/>
            <p:nvPr/>
          </p:nvSpPr>
          <p:spPr>
            <a:xfrm>
              <a:off x="0" y="0"/>
              <a:ext cx="235193" cy="4403530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48200" y="2171700"/>
            <a:ext cx="7068820" cy="70586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3352800" y="8572500"/>
            <a:ext cx="9144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200" b="1"/>
              <a:t>偏折角公式</a:t>
            </a:r>
            <a:r>
              <a:rPr lang="zh-CN" altLang="en-US"/>
              <a:t>：</a:t>
            </a:r>
            <a:endParaRPr lang="zh-CN" altLang="en-US"/>
          </a:p>
        </p:txBody>
      </p:sp>
      <p:sp>
        <p:nvSpPr>
          <p:cNvPr id="2" name="TextBox 10"/>
          <p:cNvSpPr txBox="1"/>
          <p:nvPr/>
        </p:nvSpPr>
        <p:spPr>
          <a:xfrm>
            <a:off x="1266825" y="-1905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三、折射率椭球</a:t>
            </a:r>
            <a:endParaRPr lang="zh-CN" altLang="en-US" sz="7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10"/>
          <p:cNvSpPr txBox="1"/>
          <p:nvPr/>
        </p:nvSpPr>
        <p:spPr>
          <a:xfrm>
            <a:off x="2133600" y="981710"/>
            <a:ext cx="10741025" cy="125412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p>
            <a:pPr algn="l">
              <a:lnSpc>
                <a:spcPts val="11200"/>
              </a:lnSpc>
              <a:buClrTx/>
              <a:buSzTx/>
              <a:buFontTx/>
            </a:pPr>
            <a:r>
              <a:rPr lang="en-US" altLang="zh-CN" sz="4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4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双折射与角度的关系与</a:t>
            </a:r>
            <a:r>
              <a:rPr lang="zh-CN" altLang="en-US" sz="4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endParaRPr lang="zh-CN" altLang="en-US" sz="4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914672" y="-135"/>
            <a:ext cx="170906" cy="3240000"/>
            <a:chOff x="0" y="0"/>
            <a:chExt cx="227875" cy="11758474"/>
          </a:xfrm>
        </p:grpSpPr>
        <p:sp>
          <p:nvSpPr>
            <p:cNvPr id="12" name="AutoShape 12"/>
            <p:cNvSpPr/>
            <p:nvPr/>
          </p:nvSpPr>
          <p:spPr>
            <a:xfrm>
              <a:off x="0" y="0"/>
              <a:ext cx="227875" cy="11758474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457208" y="1790588"/>
            <a:ext cx="156664" cy="3240000"/>
            <a:chOff x="0" y="0"/>
            <a:chExt cx="208885" cy="11758474"/>
          </a:xfrm>
        </p:grpSpPr>
        <p:sp>
          <p:nvSpPr>
            <p:cNvPr id="14" name="AutoShape 14"/>
            <p:cNvSpPr/>
            <p:nvPr/>
          </p:nvSpPr>
          <p:spPr>
            <a:xfrm>
              <a:off x="0" y="0"/>
              <a:ext cx="208885" cy="11758474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grpSp>
        <p:nvGrpSpPr>
          <p:cNvPr id="15" name="Group 15"/>
          <p:cNvGrpSpPr/>
          <p:nvPr/>
        </p:nvGrpSpPr>
        <p:grpSpPr>
          <a:xfrm>
            <a:off x="17144985" y="8977630"/>
            <a:ext cx="183530" cy="1297137"/>
            <a:chOff x="0" y="0"/>
            <a:chExt cx="244706" cy="1729516"/>
          </a:xfrm>
        </p:grpSpPr>
        <p:sp>
          <p:nvSpPr>
            <p:cNvPr id="16" name="AutoShape 16"/>
            <p:cNvSpPr/>
            <p:nvPr/>
          </p:nvSpPr>
          <p:spPr>
            <a:xfrm>
              <a:off x="0" y="0"/>
              <a:ext cx="244706" cy="1729516"/>
            </a:xfrm>
            <a:prstGeom prst="rect">
              <a:avLst/>
            </a:prstGeom>
            <a:solidFill>
              <a:srgbClr val="EB6100">
                <a:alpha val="76863"/>
              </a:srgbClr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7678400" y="6972163"/>
            <a:ext cx="176394" cy="3302648"/>
            <a:chOff x="0" y="0"/>
            <a:chExt cx="235193" cy="4403530"/>
          </a:xfrm>
        </p:grpSpPr>
        <p:sp>
          <p:nvSpPr>
            <p:cNvPr id="18" name="AutoShape 18"/>
            <p:cNvSpPr/>
            <p:nvPr/>
          </p:nvSpPr>
          <p:spPr>
            <a:xfrm>
              <a:off x="0" y="0"/>
              <a:ext cx="235193" cy="4403530"/>
            </a:xfrm>
            <a:prstGeom prst="rect">
              <a:avLst/>
            </a:prstGeom>
            <a:solidFill>
              <a:srgbClr val="1D2088">
                <a:alpha val="76863"/>
              </a:srgbClr>
            </a:solidFill>
          </p:spPr>
        </p:sp>
      </p:grpSp>
      <p:sp>
        <p:nvSpPr>
          <p:cNvPr id="31" name="TextBox 10"/>
          <p:cNvSpPr txBox="1"/>
          <p:nvPr/>
        </p:nvSpPr>
        <p:spPr>
          <a:xfrm>
            <a:off x="1266825" y="-19050"/>
            <a:ext cx="11254105" cy="14357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四、拓展</a:t>
            </a:r>
            <a:r>
              <a:rPr lang="zh-CN" altLang="en-US" sz="7000" b="1" dirty="0">
                <a:solidFill>
                  <a:srgbClr val="1D208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和思考</a:t>
            </a:r>
            <a:endParaRPr lang="zh-CN" altLang="en-US" sz="7000" b="1" dirty="0">
              <a:solidFill>
                <a:srgbClr val="1D208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rcRect r="13669"/>
          <a:stretch>
            <a:fillRect/>
          </a:stretch>
        </p:blipFill>
        <p:spPr>
          <a:xfrm>
            <a:off x="13792200" y="2552700"/>
            <a:ext cx="3810000" cy="5309870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591" b="28496"/>
          <a:stretch>
            <a:fillRect/>
          </a:stretch>
        </p:blipFill>
        <p:spPr>
          <a:xfrm flipH="1">
            <a:off x="8458200" y="6438900"/>
            <a:ext cx="5486400" cy="34290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057400" y="2552700"/>
            <a:ext cx="1098042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荧光:用绿色激光穿过冰洲石(视频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1.5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折射率匹配:将冰洲石泡在匹配液中(视频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1.6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思考:红光来源与滞留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(视频</a:t>
            </a:r>
            <a:r>
              <a:rPr lang="en-US" altLang="zh-CN" sz="40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1.7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)</a:t>
            </a:r>
            <a:r>
              <a:rPr lang="zh-CN" altLang="en-US" sz="4000" b="1">
                <a:latin typeface="微软雅黑" panose="020B0503020204020204" pitchFamily="34" charset="-122"/>
                <a:ea typeface="微软雅黑" panose="020B0503020204020204" pitchFamily="34" charset="-122"/>
              </a:rPr>
              <a:t>？为什么会产生四条线？匹配液对o和e光夹角影响？</a:t>
            </a:r>
            <a:endParaRPr lang="zh-CN" altLang="en-US" sz="4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ID" val="custom20205081_1*a*1"/>
  <p:tag name="KSO_WM_TEMPLATE_CATEGORY" val="custom"/>
  <p:tag name="KSO_WM_TEMPLATE_INDEX" val="20205081"/>
  <p:tag name="KSO_WM_UNIT_LAYERLEVEL" val="1"/>
  <p:tag name="KSO_WM_TAG_VERSION" val="1.0"/>
</p:tagLst>
</file>

<file path=ppt/tags/tag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3.xml><?xml version="1.0" encoding="utf-8"?>
<p:tagLst xmlns:p="http://schemas.openxmlformats.org/presentationml/2006/main">
  <p:tag name="KSO_WM_DIAGRAM_VIRTUALLY_FRAME" val="{&quot;height&quot;:446.12498919086727,&quot;left&quot;:180,&quot;top&quot;:201,&quot;width&quot;:455.25}"/>
</p:tagLst>
</file>

<file path=ppt/tags/tag4.xml><?xml version="1.0" encoding="utf-8"?>
<p:tagLst xmlns:p="http://schemas.openxmlformats.org/presentationml/2006/main">
  <p:tag name="KSO_WM_DIAGRAM_VIRTUALLY_FRAME" val="{&quot;height&quot;:446.12498919086727,&quot;left&quot;:180,&quot;top&quot;:201,&quot;width&quot;:455.25}"/>
</p:tagLst>
</file>

<file path=ppt/tags/tag5.xml><?xml version="1.0" encoding="utf-8"?>
<p:tagLst xmlns:p="http://schemas.openxmlformats.org/presentationml/2006/main">
  <p:tag name="KSO_WM_DIAGRAM_VIRTUALLY_FRAME" val="{&quot;height&quot;:446.12498919086727,&quot;left&quot;:180,&quot;top&quot;:201,&quot;width&quot;:455.25}"/>
</p:tagLst>
</file>

<file path=ppt/tags/tag6.xml><?xml version="1.0" encoding="utf-8"?>
<p:tagLst xmlns:p="http://schemas.openxmlformats.org/presentationml/2006/main">
  <p:tag name="KSO_WM_DIAGRAM_VIRTUALLY_FRAME" val="{&quot;height&quot;:446.12498919086727,&quot;left&quot;:180,&quot;top&quot;:201,&quot;width&quot;:455.25}"/>
</p:tagLst>
</file>

<file path=ppt/tags/tag7.xml><?xml version="1.0" encoding="utf-8"?>
<p:tagLst xmlns:p="http://schemas.openxmlformats.org/presentationml/2006/main">
  <p:tag name="KSO_WM_DIAGRAM_VIRTUALLY_FRAME" val="{&quot;height&quot;:446.12498919086727,&quot;left&quot;:180,&quot;top&quot;:201,&quot;width&quot;:455.25}"/>
</p:tagLst>
</file>

<file path=ppt/tags/tag8.xml><?xml version="1.0" encoding="utf-8"?>
<p:tagLst xmlns:p="http://schemas.openxmlformats.org/presentationml/2006/main">
  <p:tag name="KSO_WM_DIAGRAM_VIRTUALLY_FRAME" val="{&quot;height&quot;:446.12498919086727,&quot;left&quot;:180,&quot;top&quot;:201,&quot;width&quot;:455.25}"/>
</p:tagLst>
</file>

<file path=ppt/tags/tag9.xml><?xml version="1.0" encoding="utf-8"?>
<p:tagLst xmlns:p="http://schemas.openxmlformats.org/presentationml/2006/main">
  <p:tag name="KSO_WPP_MARK_KEY" val="5f32d10e-bc9a-4042-a483-4efcc6743821"/>
  <p:tag name="COMMONDATA" val="eyJoZGlkIjoiODViY2JkMjU3NGYzZTEwMzZmMGFkZWViYmNkYWU3NDIifQ=="/>
  <p:tag name="commondata" val="eyJoZGlkIjoiMzEwNTM5NzYwMDRjMzkwZTVkZjY2ODkwMGIxNGU0OTU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736</Words>
  <Application>WPS 演示</Application>
  <PresentationFormat>自定义</PresentationFormat>
  <Paragraphs>91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8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Wingdings</vt:lpstr>
      <vt:lpstr>Cambria Math</vt:lpstr>
      <vt:lpstr>MS Mincho</vt:lpstr>
      <vt:lpstr>Segoe Print</vt:lpstr>
      <vt:lpstr>Times New Roman</vt:lpstr>
      <vt:lpstr>Bookman Old Style</vt:lpstr>
      <vt:lpstr>Calibri</vt:lpstr>
      <vt:lpstr>Arial Unicode MS</vt:lpstr>
      <vt:lpstr>Wingdings</vt:lpstr>
      <vt:lpstr>Ms.Luce</vt:lpstr>
      <vt:lpstr>Office Theme</vt:lpstr>
      <vt:lpstr>WPS</vt:lpstr>
      <vt:lpstr>Equation.3</vt:lpstr>
      <vt:lpstr>Equation.3</vt:lpstr>
      <vt:lpstr>Equation.3</vt:lpstr>
      <vt:lpstr>Equation.3</vt:lpstr>
      <vt:lpstr>Equation.3</vt:lpstr>
      <vt:lpstr>冰洲石实验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多图</dc:title>
  <dc:creator>HP</dc:creator>
  <cp:lastModifiedBy>天星</cp:lastModifiedBy>
  <cp:revision>78</cp:revision>
  <dcterms:created xsi:type="dcterms:W3CDTF">2006-08-16T00:00:00Z</dcterms:created>
  <dcterms:modified xsi:type="dcterms:W3CDTF">2026-03-02T03:33:06Z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33BEC75FAC8941EF9FA9AD3A4F42243E_13</vt:lpwstr>
  </property>
  <property fmtid="{D5CDD505-2E9C-101B-9397-08002B2CF9AE}" pid="3" name="KSOProductBuildVer">
    <vt:lpwstr>2052-12.1.0.25225</vt:lpwstr>
  </property>
</Properties>
</file>